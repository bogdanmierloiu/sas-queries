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68" r:id="rId4"/>
    <p:sldMasterId id="2147484119" r:id="rId5"/>
    <p:sldMasterId id="2147484085" r:id="rId6"/>
    <p:sldMasterId id="2147484074" r:id="rId7"/>
  </p:sldMasterIdLst>
  <p:notesMasterIdLst>
    <p:notesMasterId r:id="rId17"/>
  </p:notesMasterIdLst>
  <p:handoutMasterIdLst>
    <p:handoutMasterId r:id="rId18"/>
  </p:handoutMasterIdLst>
  <p:sldIdLst>
    <p:sldId id="256" r:id="rId8"/>
    <p:sldId id="257" r:id="rId9"/>
    <p:sldId id="264" r:id="rId10"/>
    <p:sldId id="258" r:id="rId11"/>
    <p:sldId id="259" r:id="rId12"/>
    <p:sldId id="260" r:id="rId13"/>
    <p:sldId id="261" r:id="rId14"/>
    <p:sldId id="262" r:id="rId15"/>
    <p:sldId id="263" r:id="rId16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re Template Slides" id="{FBB67E76-04FE-4302-A0D6-4AB89CA6987A}">
          <p14:sldIdLst>
            <p14:sldId id="256"/>
            <p14:sldId id="257"/>
            <p14:sldId id="264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Large Content [SPECTRUM] Template Slides" id="{ACDA842C-882E-7349-A86C-87D904550EA0}">
          <p14:sldIdLst/>
        </p14:section>
        <p14:section name="Large Content [DARK] Template Slides" id="{7FFC70B9-6E78-B447-9343-301B3D81D7B5}">
          <p14:sldIdLst/>
        </p14:section>
        <p14:section name="Small Content [DARK] Template Slides" id="{EDAFDEE3-1CBE-DD41-B24F-13AACD6AEB70}">
          <p14:sldIdLst/>
        </p14:section>
        <p14:section name="Data visualization" id="{99F1D1C2-26B7-4958-9918-92B928ADFD3B}">
          <p14:sldIdLst/>
        </p14:section>
        <p14:section name="Ending slides" id="{9627547A-2946-4DF2-82C7-3620E77F356D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7E458B67-C412-0511-FAB3-4B17EB321652}" name="Chris Kramer" initials="CK" userId="S::Christopher.Kramer@ey.com::91898555-a6b5-4c1b-8618-941af9b6286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7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FFFF"/>
    <a:srgbClr val="FF00FF"/>
    <a:srgbClr val="C5FD45"/>
    <a:srgbClr val="80FBFD"/>
    <a:srgbClr val="FFE600"/>
    <a:srgbClr val="EB4F00"/>
    <a:srgbClr val="2DB757"/>
    <a:srgbClr val="922B73"/>
    <a:srgbClr val="1A1A24"/>
    <a:srgbClr val="B148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 autoAdjust="0"/>
    <p:restoredTop sz="96000" autoAdjust="0"/>
  </p:normalViewPr>
  <p:slideViewPr>
    <p:cSldViewPr snapToObjects="1" showGuides="1">
      <p:cViewPr varScale="1">
        <p:scale>
          <a:sx n="79" d="100"/>
          <a:sy n="79" d="100"/>
        </p:scale>
        <p:origin x="758" y="24"/>
      </p:cViewPr>
      <p:guideLst/>
    </p:cSldViewPr>
  </p:slideViewPr>
  <p:outlineViewPr>
    <p:cViewPr>
      <p:scale>
        <a:sx n="33" d="100"/>
        <a:sy n="33" d="100"/>
      </p:scale>
      <p:origin x="0" y="-13548"/>
    </p:cViewPr>
  </p:outlineViewPr>
  <p:notesTextViewPr>
    <p:cViewPr>
      <p:scale>
        <a:sx n="50" d="100"/>
        <a:sy n="50" d="100"/>
      </p:scale>
      <p:origin x="0" y="0"/>
    </p:cViewPr>
  </p:notesTextViewPr>
  <p:sorterViewPr>
    <p:cViewPr varScale="1">
      <p:scale>
        <a:sx n="1" d="1"/>
        <a:sy n="1" d="1"/>
      </p:scale>
      <p:origin x="0" y="-26814"/>
    </p:cViewPr>
  </p:sorterViewPr>
  <p:notesViewPr>
    <p:cSldViewPr snapToObjects="1" showGuides="1">
      <p:cViewPr varScale="1">
        <p:scale>
          <a:sx n="79" d="100"/>
          <a:sy n="79" d="100"/>
        </p:scale>
        <p:origin x="2172" y="114"/>
      </p:cViewPr>
      <p:guideLst>
        <p:guide orient="horz" pos="2909"/>
        <p:guide pos="218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gdan Picerea" userId="75dbd58e-42fe-43ac-bd00-87f21a7f2730" providerId="ADAL" clId="{CC1529A7-916E-5BAF-ACD7-EF4EE1788B17}"/>
    <pc:docChg chg="custSel modSld">
      <pc:chgData name="Bogdan Picerea" userId="75dbd58e-42fe-43ac-bd00-87f21a7f2730" providerId="ADAL" clId="{CC1529A7-916E-5BAF-ACD7-EF4EE1788B17}" dt="2026-07-30T12:36:48.098" v="7" actId="478"/>
      <pc:docMkLst>
        <pc:docMk/>
      </pc:docMkLst>
      <pc:sldChg chg="delSp mod">
        <pc:chgData name="Bogdan Picerea" userId="75dbd58e-42fe-43ac-bd00-87f21a7f2730" providerId="ADAL" clId="{CC1529A7-916E-5BAF-ACD7-EF4EE1788B17}" dt="2026-07-30T12:36:48.098" v="7" actId="478"/>
        <pc:sldMkLst>
          <pc:docMk/>
          <pc:sldMk cId="817646005" sldId="1881838962"/>
        </pc:sldMkLst>
        <pc:picChg chg="del">
          <ac:chgData name="Bogdan Picerea" userId="75dbd58e-42fe-43ac-bd00-87f21a7f2730" providerId="ADAL" clId="{CC1529A7-916E-5BAF-ACD7-EF4EE1788B17}" dt="2026-07-30T12:36:48.098" v="7" actId="478"/>
          <ac:picMkLst>
            <pc:docMk/>
            <pc:sldMk cId="817646005" sldId="1881838962"/>
            <ac:picMk id="3" creationId="{435A9C87-B22E-3C21-C82C-250CAF4434C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5A85089-C692-4DEA-AC49-04CF34D4FE14}" type="datetimeFigureOut">
              <a:rPr lang="en-GB" smtClean="0">
                <a:latin typeface="Arial" pitchFamily="34" charset="0"/>
              </a:rPr>
              <a:pPr/>
              <a:t>05/10/2026</a:t>
            </a:fld>
            <a:endParaRPr lang="en-GB" dirty="0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3A5C721-4BB5-4DB6-AD65-4BA2A62B05B6}" type="slidenum">
              <a:rPr lang="en-GB" smtClean="0">
                <a:latin typeface="Arial" pitchFamily="34" charset="0"/>
              </a:rPr>
              <a:pPr/>
              <a:t>‹#›</a:t>
            </a:fld>
            <a:endParaRPr lang="en-GB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2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8045EBA9-A28D-4849-BFEA-AA04F6A21B63}" type="datetimeFigureOut">
              <a:rPr lang="en-GB" smtClean="0"/>
              <a:pPr/>
              <a:t>05/10/2026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5288" y="692150"/>
            <a:ext cx="615950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B43D19E-BFDB-4C92-8EDD-32EDDA8F41D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27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D9E433B3-F2D7-EE0E-B292-997EB25B05B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EF5EE-C1B0-CB56-30BC-F2EA02D0DD7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64B4A77C-E4D0-44E2-96CE-17BB71F5DB2D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9B410-713F-D002-C7AD-50375ABC03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77F87-1E81-7C70-C23C-765CF083A3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0" name="Logo">
            <a:extLst>
              <a:ext uri="{FF2B5EF4-FFF2-40B4-BE49-F238E27FC236}">
                <a16:creationId xmlns:a16="http://schemas.microsoft.com/office/drawing/2014/main" id="{EECBC22F-ABFB-48B6-CDC6-4309042A5544}"/>
              </a:ext>
            </a:extLst>
          </p:cNvPr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BB4C61E-397F-F826-D32A-B638714F9D51}"/>
                </a:ext>
              </a:extLst>
            </p:cNvPr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4E97927A-B711-1BD1-7DB6-31EEB9331E23}"/>
                </a:ext>
              </a:extLst>
            </p:cNvPr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D5D626F4-6013-3429-50AE-E567EFCF0F27}"/>
                </a:ext>
              </a:extLst>
            </p:cNvPr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038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7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492E4-17BF-43AC-AE51-3960A67CBA67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4CFBABDE-43B8-B4AD-62B7-9BAD9B05193A}"/>
              </a:ext>
            </a:extLst>
          </p:cNvPr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FB277BB-02D7-CF64-703C-61BA44354D43}"/>
                </a:ext>
              </a:extLst>
            </p:cNvPr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6DA16F5A-1F04-237B-E750-9909A6478A86}"/>
                </a:ext>
              </a:extLst>
            </p:cNvPr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55E6116E-1248-BA3A-5F9C-827C2BE26CEC}"/>
                </a:ext>
              </a:extLst>
            </p:cNvPr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1961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A blurry image of a rainbow&#10;&#10;Description automatically generated">
            <a:extLst>
              <a:ext uri="{FF2B5EF4-FFF2-40B4-BE49-F238E27FC236}">
                <a16:creationId xmlns:a16="http://schemas.microsoft.com/office/drawing/2014/main" id="{A2A28331-3A24-BC3F-1B9B-BAB01D3DA0C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-1"/>
            <a:ext cx="12193200" cy="68616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12688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39853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81F0-9BA0-4782-99D6-E33085109632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9" name="Logo">
            <a:extLst>
              <a:ext uri="{FF2B5EF4-FFF2-40B4-BE49-F238E27FC236}">
                <a16:creationId xmlns:a16="http://schemas.microsoft.com/office/drawing/2014/main" id="{36D36C33-0B8C-8DBD-3F6B-18CF865961F1}"/>
              </a:ext>
            </a:extLst>
          </p:cNvPr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DA3CB2D9-CE5B-5012-157D-3AE3DF5D1F33}"/>
                </a:ext>
              </a:extLst>
            </p:cNvPr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B023BFD-E84E-29EF-B3C7-7EA579CF4E95}"/>
                </a:ext>
              </a:extLst>
            </p:cNvPr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98FFF98-BC19-88BE-80DE-100A03E1A068}"/>
                </a:ext>
              </a:extLst>
            </p:cNvPr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989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ackground" descr="A colorful light in the dark&#10;&#10;Description automatically generated">
            <a:extLst>
              <a:ext uri="{FF2B5EF4-FFF2-40B4-BE49-F238E27FC236}">
                <a16:creationId xmlns:a16="http://schemas.microsoft.com/office/drawing/2014/main" id="{B01642D7-4E4F-867F-08FE-F5B7458A38C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85523" y="1411287"/>
            <a:ext cx="3571200" cy="4638675"/>
          </a:xfrm>
          <a:solidFill>
            <a:srgbClr val="2E2E38">
              <a:alpha val="60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auto">
          <a:xfrm>
            <a:off x="4312096" y="1411287"/>
            <a:ext cx="3571200" cy="4638675"/>
          </a:xfrm>
          <a:solidFill>
            <a:srgbClr val="2E2E38">
              <a:alpha val="60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auto">
          <a:xfrm>
            <a:off x="8138670" y="1411287"/>
            <a:ext cx="3571200" cy="4638675"/>
          </a:xfrm>
          <a:solidFill>
            <a:srgbClr val="2E2E38">
              <a:alpha val="60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Date Placeholder 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97B5-B1CE-46C5-B96A-83834BEC5965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E1FBA9F5-4E1E-7157-650F-920396E6BD16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775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Highlight line 2">
            <a:extLst>
              <a:ext uri="{FF2B5EF4-FFF2-40B4-BE49-F238E27FC236}">
                <a16:creationId xmlns:a16="http://schemas.microsoft.com/office/drawing/2014/main" id="{F0D5216F-CE4B-8B47-FCA1-EA9B01BBAD6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312096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Highlight line 3">
            <a:extLst>
              <a:ext uri="{FF2B5EF4-FFF2-40B4-BE49-F238E27FC236}">
                <a16:creationId xmlns:a16="http://schemas.microsoft.com/office/drawing/2014/main" id="{945CF969-2B44-5C5F-B1A2-132B74FE4B4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139851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17" name="Logo">
            <a:extLst>
              <a:ext uri="{FF2B5EF4-FFF2-40B4-BE49-F238E27FC236}">
                <a16:creationId xmlns:a16="http://schemas.microsoft.com/office/drawing/2014/main" id="{EC0BFB89-FAB5-160D-D6E7-673C72C630D5}"/>
              </a:ext>
            </a:extLst>
          </p:cNvPr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49E0C4E9-31F6-3AD8-056E-81A5BE6A3E4C}"/>
                </a:ext>
              </a:extLst>
            </p:cNvPr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290A4FFE-C215-2C91-4D46-32D31805E46C}"/>
                </a:ext>
              </a:extLst>
            </p:cNvPr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7E3BFB0A-D692-C730-136A-21B4EBAA94EC}"/>
                </a:ext>
              </a:extLst>
            </p:cNvPr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0266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yellow circle&#10;&#10;Description automatically generated with medium confidence">
            <a:extLst>
              <a:ext uri="{FF2B5EF4-FFF2-40B4-BE49-F238E27FC236}">
                <a16:creationId xmlns:a16="http://schemas.microsoft.com/office/drawing/2014/main" id="{0CE0EE1C-69FD-A2A1-0E47-EEBF86AA5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F5E5-2571-45AC-B9B8-7B1941A26EA0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2016125"/>
            <a:ext cx="5610479" cy="4033837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97C4A53-D484-0A91-32DE-DC7DFBC6D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9"/>
            <a:ext cx="5610479" cy="10574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martArt Placeholder 13">
            <a:extLst>
              <a:ext uri="{FF2B5EF4-FFF2-40B4-BE49-F238E27FC236}">
                <a16:creationId xmlns:a16="http://schemas.microsoft.com/office/drawing/2014/main" id="{7CC7DD02-31B9-871B-D392-67044008A7C6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SmartArt Placeholder 14">
            <a:extLst>
              <a:ext uri="{FF2B5EF4-FFF2-40B4-BE49-F238E27FC236}">
                <a16:creationId xmlns:a16="http://schemas.microsoft.com/office/drawing/2014/main" id="{F8BC9449-6E17-FDE5-FA92-7342C909AE74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535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Background" descr="A blurry image of a rainbow&#10;&#10;Description automatically generated">
            <a:extLst>
              <a:ext uri="{FF2B5EF4-FFF2-40B4-BE49-F238E27FC236}">
                <a16:creationId xmlns:a16="http://schemas.microsoft.com/office/drawing/2014/main" id="{C586CC36-CAC3-0258-347D-5742F734B09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-1"/>
            <a:ext cx="12193200" cy="6861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7E0F-51BB-447A-A653-EE112BB6663D}" type="datetime1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B387BF89-2CF2-833C-F3D8-A6095E99E2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2523291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+mj-lt"/>
              </a:defRPr>
            </a:lvl1pPr>
            <a:lvl2pPr marL="252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C808AA70-A8F5-B52B-A33E-3456242455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2096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9EACB69D-0795-B94F-58F7-2F354BB47D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38670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A977ACC9-4278-37A3-C20C-7458A96B95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5523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4CDE11A7-CFD5-0BCE-E9EB-82E0961682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2096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53FBCF7B-885D-438B-8ADE-568707D41F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8670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D35D28B5-B927-1D64-2A2C-CAE9617F720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041E794A-5BA9-0AEB-B69E-BDD517FE03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47E89372-29EB-BAE0-BD25-5DCA52F7BAD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976A4CC0-A57B-68E6-0F76-F1A6D82EF66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513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4DCED-0DBB-457D-A20C-23B40B002B03}" type="datetime1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  <a:endParaRPr lang="en-US" dirty="0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35A31772-E4C2-BB70-6831-1ABF28FD7A77}"/>
              </a:ext>
            </a:extLst>
          </p:cNvPr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D57B9AE-D53A-D4F0-3B7F-B81EBF5E0085}"/>
                </a:ext>
              </a:extLst>
            </p:cNvPr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130E49FD-7AF1-7B62-0761-FF4FF1264371}"/>
                </a:ext>
              </a:extLst>
            </p:cNvPr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E608EC-B7D8-A3B6-E4F4-28E79663F16F}"/>
                </a:ext>
              </a:extLst>
            </p:cNvPr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875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yellow and black light&#10;&#10;Description automatically generated with medium confidence">
            <a:extLst>
              <a:ext uri="{FF2B5EF4-FFF2-40B4-BE49-F238E27FC236}">
                <a16:creationId xmlns:a16="http://schemas.microsoft.com/office/drawing/2014/main" id="{48DB6F09-4360-87F8-7045-768BF31446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3200" cy="68586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20929-5949-4EB6-9189-DC8645E04D94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EC20394-F6AE-DC91-F7F3-91384D3756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136" y="4437064"/>
            <a:ext cx="2544933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8C26B76-6BF1-741E-77C9-1AE58FAA9D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136" y="5243516"/>
            <a:ext cx="2544932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5250BC2-E0E2-741C-128C-67991E7FE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8958" y="4437064"/>
            <a:ext cx="2544933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BAB1B720-8C35-31CC-E8BA-A24F76EC23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8958" y="5243516"/>
            <a:ext cx="2544932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9756EF2-9996-0FB9-D7B0-C8F68A711B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2781" y="4437064"/>
            <a:ext cx="2544933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BDC17D8-DC6B-1BF9-23DC-FF6D20C0FD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2781" y="5243516"/>
            <a:ext cx="2544932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DE2BFA5-8DD3-AAE2-BA88-2C21E5EA38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66603" y="4437064"/>
            <a:ext cx="2544933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A6334C15-AC9A-3BC9-AC49-BB8588AC06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6603" y="5243516"/>
            <a:ext cx="2544932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0BA6537A-D367-6DF9-2A2C-F0EF216DD53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6802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1ABE1BD9-533C-1930-8960-4BAE5CA7463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80625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FFEBD01-EBC9-7BDA-3CC5-39B4C8203AA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74448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38869CAE-EFD2-4214-1658-F59F26B2225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68270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3" name="Logo">
            <a:extLst>
              <a:ext uri="{FF2B5EF4-FFF2-40B4-BE49-F238E27FC236}">
                <a16:creationId xmlns:a16="http://schemas.microsoft.com/office/drawing/2014/main" id="{EB1712DB-44E3-F1E8-EE98-F386A5DBCFB5}"/>
              </a:ext>
            </a:extLst>
          </p:cNvPr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2FA99ABD-7D1B-8F65-C9CB-2CBCEBD94E69}"/>
                </a:ext>
              </a:extLst>
            </p:cNvPr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025AE411-6530-3204-66E5-2472998CA5C4}"/>
                </a:ext>
              </a:extLst>
            </p:cNvPr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8FBCF87D-7239-07DB-2566-2B574AA52E9E}"/>
                </a:ext>
              </a:extLst>
            </p:cNvPr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417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yellow and green light&#10;&#10;Description automatically generated">
            <a:extLst>
              <a:ext uri="{FF2B5EF4-FFF2-40B4-BE49-F238E27FC236}">
                <a16:creationId xmlns:a16="http://schemas.microsoft.com/office/drawing/2014/main" id="{E292F2D6-66C2-B22A-7FFF-05A7B35054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291FF-4B20-4E11-BD81-68CF223AE6E2}" type="datetime1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D638B96B-B381-0A4A-9C03-FAEA8FCC0C3A}"/>
              </a:ext>
            </a:extLst>
          </p:cNvPr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F93FF753-4D01-4602-8217-3FFCC28BA2A1}"/>
                </a:ext>
              </a:extLst>
            </p:cNvPr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E36D5F7D-FB28-AFA3-2358-69211F54C147}"/>
                </a:ext>
              </a:extLst>
            </p:cNvPr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2505B87-640B-2273-C7C7-DB96614AC411}"/>
                </a:ext>
              </a:extLst>
            </p:cNvPr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6466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5BBB5A-0446-3C14-B12C-56A5730E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4EF81A0-CB40-42B3-5E1A-AA5D72BFB4D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C1D2CA-2DB1-76BC-DAFE-210631AEC28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2131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812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EF5EE-C1B0-CB56-30BC-F2EA02D0DD7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29DB60D-B14D-4CB0-A1D5-896B8110D934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9B410-713F-D002-C7AD-50375ABC03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77F87-1E81-7C70-C23C-765CF083A3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9059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356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7"/>
            <a:ext cx="5356800" cy="4638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31EB-E788-44AD-8289-B392C32090DB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32306285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10992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39851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E2665-6FA6-409A-BC64-BEC56B061B4F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18860015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85521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auto">
          <a:xfrm>
            <a:off x="4312686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auto">
          <a:xfrm>
            <a:off x="8139850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673B6-79DD-4B4F-ACB0-F62259251157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E1FBA9F5-4E1E-7157-650F-920396E6BD16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775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Highlight line 2">
            <a:extLst>
              <a:ext uri="{FF2B5EF4-FFF2-40B4-BE49-F238E27FC236}">
                <a16:creationId xmlns:a16="http://schemas.microsoft.com/office/drawing/2014/main" id="{F0D5216F-CE4B-8B47-FCA1-EA9B01BBAD6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312686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Highlight line 3">
            <a:extLst>
              <a:ext uri="{FF2B5EF4-FFF2-40B4-BE49-F238E27FC236}">
                <a16:creationId xmlns:a16="http://schemas.microsoft.com/office/drawing/2014/main" id="{945CF969-2B44-5C5F-B1A2-132B74FE4B4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139851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06047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90E3C-0363-4D0C-8112-4F4DEEB4880E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2016125"/>
            <a:ext cx="5610479" cy="4033837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97C4A53-D484-0A91-32DE-DC7DFBC6D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9"/>
            <a:ext cx="5610479" cy="105747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4" name="SmartArt Placeholder 13">
            <a:extLst>
              <a:ext uri="{FF2B5EF4-FFF2-40B4-BE49-F238E27FC236}">
                <a16:creationId xmlns:a16="http://schemas.microsoft.com/office/drawing/2014/main" id="{F2CC33D2-B8A3-7F9B-23C1-E7D77B5CBDBE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5" name="SmartArt Placeholder 14">
            <a:extLst>
              <a:ext uri="{FF2B5EF4-FFF2-40B4-BE49-F238E27FC236}">
                <a16:creationId xmlns:a16="http://schemas.microsoft.com/office/drawing/2014/main" id="{994D7891-125A-9B0F-C008-AB28FC5AC8AA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4423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A56F-E69D-4D42-B3CA-92F18EDE3AB1}" type="datetime1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2523291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+mj-lt"/>
              </a:defRPr>
            </a:lvl1pPr>
            <a:lvl2pPr marL="252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0886606-7F7C-229B-523F-A51D629D8F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2096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4DFDFED0-9426-6F78-EE09-B416D35596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38670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0D1CEB-1876-8DB7-6913-D6F96D953A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5523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344ED76-364E-1538-DFB0-B25FC3D75E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2096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CFE1354-17C3-F8BE-C22A-B4DC2FEEE4D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8670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1976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7440A-DB39-4578-84CD-F42535E15BA4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7AA8680C-DF0E-A59A-1D40-85E5B348B8F4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5524" y="1411287"/>
            <a:ext cx="8160263" cy="4638675"/>
          </a:xfrm>
        </p:spPr>
        <p:txBody>
          <a:bodyPr/>
          <a:lstStyle/>
          <a:p>
            <a:r>
              <a:rPr lang="en-GB" dirty="0"/>
              <a:t>Click icon to add media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85579B-86BF-EE24-023A-9F648CFE07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4632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7099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611AB-96BE-497A-8B1E-C35B330CCD27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D478FB2-6DCF-6364-722B-2742BAEAC4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136" y="4437064"/>
            <a:ext cx="2544933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FCFAFC67-67EB-77A0-37B8-8F94E36FCE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136" y="5243516"/>
            <a:ext cx="2544932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EA9C6B41-3A95-E48C-A2FB-F44DF9BAA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8958" y="4437064"/>
            <a:ext cx="2544933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178FBE03-C652-44D2-25D5-890DFD9C79B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8958" y="5243516"/>
            <a:ext cx="2544932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2E834814-156C-DD69-C4E8-B06A336B25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2781" y="4437064"/>
            <a:ext cx="2544933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1415004B-E405-3D2D-0ECF-803558DDBD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2781" y="5243516"/>
            <a:ext cx="2544932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F9516F05-42DF-88FC-DB3A-ABF3A24B7C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66603" y="4437064"/>
            <a:ext cx="2544933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7ADA0828-0BAF-D28A-DFD9-EC75EA33AA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6603" y="5243516"/>
            <a:ext cx="2544932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6" name="Picture Placeholder 12">
            <a:extLst>
              <a:ext uri="{FF2B5EF4-FFF2-40B4-BE49-F238E27FC236}">
                <a16:creationId xmlns:a16="http://schemas.microsoft.com/office/drawing/2014/main" id="{C8B47107-CA48-6A17-263C-DE3A8EBB5E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6802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7F2B691F-0BA0-78CD-0B0D-09ADBB99BE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80625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8" name="Picture Placeholder 12">
            <a:extLst>
              <a:ext uri="{FF2B5EF4-FFF2-40B4-BE49-F238E27FC236}">
                <a16:creationId xmlns:a16="http://schemas.microsoft.com/office/drawing/2014/main" id="{16865DFF-E6B4-6453-02D9-4C145A3BB1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74448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9" name="Picture Placeholder 12">
            <a:extLst>
              <a:ext uri="{FF2B5EF4-FFF2-40B4-BE49-F238E27FC236}">
                <a16:creationId xmlns:a16="http://schemas.microsoft.com/office/drawing/2014/main" id="{5ABD9B1F-4FA5-2EC8-8720-83890818B2E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68270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088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9D908-0455-4AAD-998A-117B484AFC84}" type="datetime1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77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5BBB5A-0446-3C14-B12C-56A5730E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4EF81A0-CB40-42B3-5E1A-AA5D72BFB4D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C1D2CA-2DB1-76BC-DAFE-210631AEC28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4193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67597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28B2B-ED84-D8B9-C6E0-AF4BC1706BD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81EBB7-22C4-4415-898F-316B1B71C103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FBA85-AB9A-E34B-448A-B5BB1CE520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C081B-AFD3-2CFE-BC00-E7A72056889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34839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356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7"/>
            <a:ext cx="5356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36E7-1FD7-462A-B03C-DACB262E8146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37375091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12686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39851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5300-1255-4AD5-B89D-B425ACFD24B9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157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77372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9221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85883-1BB3-4FFB-99DC-102234F957C8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A89EC53-4B4E-25EA-86D3-0A198384FA8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61070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8293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77372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9221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3E80A-D33C-49B6-9F70-BBFCAF7F7A1C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A89EC53-4B4E-25EA-86D3-0A198384FA8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61070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091EC5-9CD6-B52C-F192-1D28C197D5E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85523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F5F74F9-864E-3DD7-6291-763A9D830F2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377373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EC6B6C9-6D62-F36C-8404-9E032EF106E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269221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D7F9E8A1-A5A0-CC6C-3FD8-D24AC966E14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61070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7114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5521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2096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138670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44FC6-0F68-498F-9945-41A4340A1DD4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E1FBA9F5-4E1E-7157-650F-920396E6BD16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775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Highlight line 2">
            <a:extLst>
              <a:ext uri="{FF2B5EF4-FFF2-40B4-BE49-F238E27FC236}">
                <a16:creationId xmlns:a16="http://schemas.microsoft.com/office/drawing/2014/main" id="{F0D5216F-CE4B-8B47-FCA1-EA9B01BBAD6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312096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Highlight line 3">
            <a:extLst>
              <a:ext uri="{FF2B5EF4-FFF2-40B4-BE49-F238E27FC236}">
                <a16:creationId xmlns:a16="http://schemas.microsoft.com/office/drawing/2014/main" id="{945CF969-2B44-5C5F-B1A2-132B74FE4B4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138670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1D1C9E-8438-3A10-53E8-497704D4A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080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80A4-82D8-49DD-91F4-A35A5C654DCE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9"/>
            <a:ext cx="5610479" cy="4638673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88C567-2561-2AD2-63FE-0886450D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5610477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8" name="SmartArt Placeholder 13">
            <a:extLst>
              <a:ext uri="{FF2B5EF4-FFF2-40B4-BE49-F238E27FC236}">
                <a16:creationId xmlns:a16="http://schemas.microsoft.com/office/drawing/2014/main" id="{22E94658-5E5F-713F-D9E0-D9B1BA7B8DE6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9" name="SmartArt Placeholder 14">
            <a:extLst>
              <a:ext uri="{FF2B5EF4-FFF2-40B4-BE49-F238E27FC236}">
                <a16:creationId xmlns:a16="http://schemas.microsoft.com/office/drawing/2014/main" id="{B9319F0D-BF5B-DAC6-565F-071837332CE2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20180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668B-EDF0-43C2-BD54-39A08FFF8CE2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35712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9938" y="0"/>
            <a:ext cx="3802061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D119AB-28F4-6336-28B6-59438D27F15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309277" y="1411287"/>
            <a:ext cx="35712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9361665-A619-0AEE-E8F0-5711C7980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7394953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SmartArt Placeholder 13">
            <a:extLst>
              <a:ext uri="{FF2B5EF4-FFF2-40B4-BE49-F238E27FC236}">
                <a16:creationId xmlns:a16="http://schemas.microsoft.com/office/drawing/2014/main" id="{49F394CB-D44E-05F9-DC08-4647530A14BE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6" name="SmartArt Placeholder 14">
            <a:extLst>
              <a:ext uri="{FF2B5EF4-FFF2-40B4-BE49-F238E27FC236}">
                <a16:creationId xmlns:a16="http://schemas.microsoft.com/office/drawing/2014/main" id="{AF8920BD-6719-DAF4-4B8A-714342782BCB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53601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7AC31-7592-4F1E-B959-50D17A704978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5113" y="0"/>
            <a:ext cx="3036886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D119AB-28F4-6336-28B6-59438D27F15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3302078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468690-9C07-32F0-8029-E127A361B770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6118634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4452E42-0F44-3CC2-78EC-9EE78A1B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82588"/>
            <a:ext cx="8181910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martArt Placeholder 13">
            <a:extLst>
              <a:ext uri="{FF2B5EF4-FFF2-40B4-BE49-F238E27FC236}">
                <a16:creationId xmlns:a16="http://schemas.microsoft.com/office/drawing/2014/main" id="{CF452C82-E3A0-D6AB-B0CB-61F9237B6193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SmartArt Placeholder 14">
            <a:extLst>
              <a:ext uri="{FF2B5EF4-FFF2-40B4-BE49-F238E27FC236}">
                <a16:creationId xmlns:a16="http://schemas.microsoft.com/office/drawing/2014/main" id="{90A9999A-08F8-4E6E-6BC6-EDD880355EAE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1994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5C728-431A-443E-8700-D515D68694F7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7AA8680C-DF0E-A59A-1D40-85E5B348B8F4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5524" y="1411287"/>
            <a:ext cx="8160263" cy="4638675"/>
          </a:xfrm>
        </p:spPr>
        <p:txBody>
          <a:bodyPr/>
          <a:lstStyle/>
          <a:p>
            <a:r>
              <a:rPr lang="en-GB" dirty="0"/>
              <a:t>Click icon to add media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85579B-86BF-EE24-023A-9F648CFE07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4632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6234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54777-B5F8-42FE-88D5-45DE80084F37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1B7BC80A-0B74-DD25-90D5-7D9F71589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08549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F5E5E41-09E4-029C-0E75-C9B547EC8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8549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1A34F1E0-A87C-7178-6538-22253973A9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5523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74E37A4-57E6-2CDF-2A5F-3C554861B7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5523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latin typeface="+mj-lt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116B2E5-B73A-D121-0F3D-AD18A29831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08549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EEB861F1-1DCD-AC14-72C5-74E3CBEDCC6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8549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2AD0FA3F-F163-4A05-299B-BC661CE2D5A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85523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E5857066-46A9-72C9-EBC1-46A671B0000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08549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018DCA9A-F508-544F-26AE-564194DADCB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08549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0057E680-F84B-F640-97B3-1574895E590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85523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7A0A840B-4CD0-8E51-0DB8-CAA8C5CE56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08549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907FD0F3-2EFB-1048-729B-F8D9C5387E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08549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0" name="Picture Placeholder 12">
            <a:extLst>
              <a:ext uri="{FF2B5EF4-FFF2-40B4-BE49-F238E27FC236}">
                <a16:creationId xmlns:a16="http://schemas.microsoft.com/office/drawing/2014/main" id="{8F182A88-FA5D-6BF5-64A4-F27206333D0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85523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0E55779C-A246-7AA1-1246-32F3BAC3E9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99994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AE906D56-BF94-FEC3-DB85-DEC802C0EDF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99994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CF08BE99-68E9-C172-4584-192EAC7EBA2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3377372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61B59087-059A-8552-985C-C458B49492E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77372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latin typeface="+mj-lt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B80CEAFC-3F56-53A9-7CA1-6FF2EFEA9F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99994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1F927087-C230-38DF-C1BC-D979647576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99994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7" name="Picture Placeholder 12">
            <a:extLst>
              <a:ext uri="{FF2B5EF4-FFF2-40B4-BE49-F238E27FC236}">
                <a16:creationId xmlns:a16="http://schemas.microsoft.com/office/drawing/2014/main" id="{E5B079F2-242E-7156-DFAD-AED073123B53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372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BAD8BB7A-C875-E730-22F2-58BF881807E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99994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428864EC-7BF7-9E3F-14AA-1569F68FDBF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99994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40" name="Picture Placeholder 12">
            <a:extLst>
              <a:ext uri="{FF2B5EF4-FFF2-40B4-BE49-F238E27FC236}">
                <a16:creationId xmlns:a16="http://schemas.microsoft.com/office/drawing/2014/main" id="{01784631-4FDE-2C65-08D2-90389B52BB27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3377372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0154653D-5642-2E90-794A-C1E075F2C19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99994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7B745924-C16B-48BF-AE37-F5CD447BF3B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99994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43" name="Picture Placeholder 12">
            <a:extLst>
              <a:ext uri="{FF2B5EF4-FFF2-40B4-BE49-F238E27FC236}">
                <a16:creationId xmlns:a16="http://schemas.microsoft.com/office/drawing/2014/main" id="{4E35CBCD-AFBE-52EA-7BC2-89F29ED83F88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377372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44" name="Text Placeholder 9">
            <a:extLst>
              <a:ext uri="{FF2B5EF4-FFF2-40B4-BE49-F238E27FC236}">
                <a16:creationId xmlns:a16="http://schemas.microsoft.com/office/drawing/2014/main" id="{C6A4FD7C-43FE-CC16-4728-179DD98E56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292514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CCC5923F-9079-4223-BD7D-2ECA17762C8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292514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D730576F-217C-362A-C36F-674299D51B91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6269221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47" name="Text Placeholder 9">
            <a:extLst>
              <a:ext uri="{FF2B5EF4-FFF2-40B4-BE49-F238E27FC236}">
                <a16:creationId xmlns:a16="http://schemas.microsoft.com/office/drawing/2014/main" id="{683AAA8B-B0B9-8676-2816-59B9081C344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69221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latin typeface="+mj-lt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66FDE5EC-EECA-8ACE-6501-3066CB7FE8A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292514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49" name="Text Placeholder 9">
            <a:extLst>
              <a:ext uri="{FF2B5EF4-FFF2-40B4-BE49-F238E27FC236}">
                <a16:creationId xmlns:a16="http://schemas.microsoft.com/office/drawing/2014/main" id="{73D20F87-E90C-42D0-0ED6-6300216BB30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92514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0" name="Picture Placeholder 12">
            <a:extLst>
              <a:ext uri="{FF2B5EF4-FFF2-40B4-BE49-F238E27FC236}">
                <a16:creationId xmlns:a16="http://schemas.microsoft.com/office/drawing/2014/main" id="{03693376-1C6C-F15B-897B-29DF694405E9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269221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51" name="Text Placeholder 9">
            <a:extLst>
              <a:ext uri="{FF2B5EF4-FFF2-40B4-BE49-F238E27FC236}">
                <a16:creationId xmlns:a16="http://schemas.microsoft.com/office/drawing/2014/main" id="{77461B86-A1F2-292C-BC4A-3A720C40ECF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292514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2" name="Text Placeholder 9">
            <a:extLst>
              <a:ext uri="{FF2B5EF4-FFF2-40B4-BE49-F238E27FC236}">
                <a16:creationId xmlns:a16="http://schemas.microsoft.com/office/drawing/2014/main" id="{32236890-E7EA-252D-D7B2-D649918B3AD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292514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3" name="Picture Placeholder 12">
            <a:extLst>
              <a:ext uri="{FF2B5EF4-FFF2-40B4-BE49-F238E27FC236}">
                <a16:creationId xmlns:a16="http://schemas.microsoft.com/office/drawing/2014/main" id="{9D7279F8-145F-2BC9-392D-C195932B23E9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69221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38CC5E8C-843D-F801-E86E-74E733EC4AC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292514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1F5E5E23-4BD8-2BF8-132F-46B1EEF1CE4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292514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6" name="Picture Placeholder 12">
            <a:extLst>
              <a:ext uri="{FF2B5EF4-FFF2-40B4-BE49-F238E27FC236}">
                <a16:creationId xmlns:a16="http://schemas.microsoft.com/office/drawing/2014/main" id="{5CD9EB6F-BA12-B7A4-0F8D-EF9271F7223A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6269221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23566F37-EF18-0360-14F6-C03B1215951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176432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8" name="Text Placeholder 9">
            <a:extLst>
              <a:ext uri="{FF2B5EF4-FFF2-40B4-BE49-F238E27FC236}">
                <a16:creationId xmlns:a16="http://schemas.microsoft.com/office/drawing/2014/main" id="{58D642CD-278F-34F9-CF75-99A7339353C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176432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9" name="Picture Placeholder 12">
            <a:extLst>
              <a:ext uri="{FF2B5EF4-FFF2-40B4-BE49-F238E27FC236}">
                <a16:creationId xmlns:a16="http://schemas.microsoft.com/office/drawing/2014/main" id="{4F6E90F8-DB8A-5E9D-7163-AC30457FEAC0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161070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60" name="Text Placeholder 9">
            <a:extLst>
              <a:ext uri="{FF2B5EF4-FFF2-40B4-BE49-F238E27FC236}">
                <a16:creationId xmlns:a16="http://schemas.microsoft.com/office/drawing/2014/main" id="{7435555B-D553-70C9-B67C-5A661E9585C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61070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latin typeface="+mj-lt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61" name="Text Placeholder 9">
            <a:extLst>
              <a:ext uri="{FF2B5EF4-FFF2-40B4-BE49-F238E27FC236}">
                <a16:creationId xmlns:a16="http://schemas.microsoft.com/office/drawing/2014/main" id="{5DB8DE5C-79AE-8E49-DC40-B4E1DDB68BA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0176432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289E0F5F-936F-FA54-01D7-5CD0040D07C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176432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63" name="Picture Placeholder 12">
            <a:extLst>
              <a:ext uri="{FF2B5EF4-FFF2-40B4-BE49-F238E27FC236}">
                <a16:creationId xmlns:a16="http://schemas.microsoft.com/office/drawing/2014/main" id="{11FBE638-0595-F8E5-AFBB-43DC12983672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9161070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64" name="Text Placeholder 9">
            <a:extLst>
              <a:ext uri="{FF2B5EF4-FFF2-40B4-BE49-F238E27FC236}">
                <a16:creationId xmlns:a16="http://schemas.microsoft.com/office/drawing/2014/main" id="{A3352A0C-1A08-FCFC-FF9C-CCA8F22308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0176432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5" name="Text Placeholder 9">
            <a:extLst>
              <a:ext uri="{FF2B5EF4-FFF2-40B4-BE49-F238E27FC236}">
                <a16:creationId xmlns:a16="http://schemas.microsoft.com/office/drawing/2014/main" id="{6E261588-76E1-16B7-8374-3F9A28832EF4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176432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CAE85F7E-2BA3-3513-9E8B-8B03FE7AAC4C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161070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67" name="Text Placeholder 9">
            <a:extLst>
              <a:ext uri="{FF2B5EF4-FFF2-40B4-BE49-F238E27FC236}">
                <a16:creationId xmlns:a16="http://schemas.microsoft.com/office/drawing/2014/main" id="{7280094F-B199-060D-4D4B-CA4F1BFCF5F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0176432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8" name="Text Placeholder 9">
            <a:extLst>
              <a:ext uri="{FF2B5EF4-FFF2-40B4-BE49-F238E27FC236}">
                <a16:creationId xmlns:a16="http://schemas.microsoft.com/office/drawing/2014/main" id="{253E3C85-558C-05C1-155E-0E52AA94351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0176432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69" name="Picture Placeholder 12">
            <a:extLst>
              <a:ext uri="{FF2B5EF4-FFF2-40B4-BE49-F238E27FC236}">
                <a16:creationId xmlns:a16="http://schemas.microsoft.com/office/drawing/2014/main" id="{E5B87C2C-7F36-6D34-D014-54305471A5A7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9161070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70" name="SmartArt Placeholder 7">
            <a:extLst>
              <a:ext uri="{FF2B5EF4-FFF2-40B4-BE49-F238E27FC236}">
                <a16:creationId xmlns:a16="http://schemas.microsoft.com/office/drawing/2014/main" id="{162A8BA6-6F67-C4EB-3430-78F1A0EC0F06}"/>
              </a:ext>
            </a:extLst>
          </p:cNvPr>
          <p:cNvSpPr>
            <a:spLocks noGrp="1"/>
          </p:cNvSpPr>
          <p:nvPr>
            <p:ph type="dgm" sz="quarter" idx="74" hasCustomPrompt="1"/>
          </p:nvPr>
        </p:nvSpPr>
        <p:spPr>
          <a:xfrm>
            <a:off x="485523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1" name="SmartArt Placeholder 7">
            <a:extLst>
              <a:ext uri="{FF2B5EF4-FFF2-40B4-BE49-F238E27FC236}">
                <a16:creationId xmlns:a16="http://schemas.microsoft.com/office/drawing/2014/main" id="{EC5DF0FE-64D1-AB19-CAF1-A390D6492B0D}"/>
              </a:ext>
            </a:extLst>
          </p:cNvPr>
          <p:cNvSpPr>
            <a:spLocks noGrp="1"/>
          </p:cNvSpPr>
          <p:nvPr>
            <p:ph type="dgm" sz="quarter" idx="75" hasCustomPrompt="1"/>
          </p:nvPr>
        </p:nvSpPr>
        <p:spPr>
          <a:xfrm>
            <a:off x="3377372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2" name="SmartArt Placeholder 7">
            <a:extLst>
              <a:ext uri="{FF2B5EF4-FFF2-40B4-BE49-F238E27FC236}">
                <a16:creationId xmlns:a16="http://schemas.microsoft.com/office/drawing/2014/main" id="{60800279-F9E3-EDED-BB35-F73EEF52F830}"/>
              </a:ext>
            </a:extLst>
          </p:cNvPr>
          <p:cNvSpPr>
            <a:spLocks noGrp="1"/>
          </p:cNvSpPr>
          <p:nvPr>
            <p:ph type="dgm" sz="quarter" idx="76" hasCustomPrompt="1"/>
          </p:nvPr>
        </p:nvSpPr>
        <p:spPr>
          <a:xfrm>
            <a:off x="6269221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3" name="SmartArt Placeholder 7">
            <a:extLst>
              <a:ext uri="{FF2B5EF4-FFF2-40B4-BE49-F238E27FC236}">
                <a16:creationId xmlns:a16="http://schemas.microsoft.com/office/drawing/2014/main" id="{1BF95AC1-33EC-C487-C489-B7A97BBB2925}"/>
              </a:ext>
            </a:extLst>
          </p:cNvPr>
          <p:cNvSpPr>
            <a:spLocks noGrp="1"/>
          </p:cNvSpPr>
          <p:nvPr>
            <p:ph type="dgm" sz="quarter" idx="77" hasCustomPrompt="1"/>
          </p:nvPr>
        </p:nvSpPr>
        <p:spPr>
          <a:xfrm>
            <a:off x="9161070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34378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AF12-BE06-46D9-9758-E574F2474CE6}" type="datetime1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907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5BBB5A-0446-3C14-B12C-56A5730E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4EF81A0-CB40-42B3-5E1A-AA5D72BFB4D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C1D2CA-2DB1-76BC-DAFE-210631AEC28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279369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69073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rainbow&#10;&#10;Description automatically generated">
            <a:extLst>
              <a:ext uri="{FF2B5EF4-FFF2-40B4-BE49-F238E27FC236}">
                <a16:creationId xmlns:a16="http://schemas.microsoft.com/office/drawing/2014/main" id="{317BE7A3-A673-B58A-8BE4-D36A0E590D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D8D2553-DCAF-2D9D-2138-FE4E794B7FFA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AD4E5D8B-12B4-19F3-17D4-D12BF368FC8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219789D6-6B07-F2E6-06BE-8CA9DC83E385}"/>
                </a:ext>
              </a:extLst>
            </p:cNvPr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767D4D9-A47B-4020-6B9B-87B081166C85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70589FC3-4491-BD75-2C16-660DF0B71BBC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B00DB918-F11D-F855-5478-ECB25A1AC3D1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74" name="Subtitle 2">
            <a:extLst>
              <a:ext uri="{FF2B5EF4-FFF2-40B4-BE49-F238E27FC236}">
                <a16:creationId xmlns:a16="http://schemas.microsoft.com/office/drawing/2014/main" id="{74103396-CF0A-A808-BF1B-463C3EF737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75" name="Title 4">
            <a:extLst>
              <a:ext uri="{FF2B5EF4-FFF2-40B4-BE49-F238E27FC236}">
                <a16:creationId xmlns:a16="http://schemas.microsoft.com/office/drawing/2014/main" id="{B57CD4DB-AED0-4F7E-41BA-02CA9659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89" name="Text Placeholder 288">
            <a:extLst>
              <a:ext uri="{FF2B5EF4-FFF2-40B4-BE49-F238E27FC236}">
                <a16:creationId xmlns:a16="http://schemas.microsoft.com/office/drawing/2014/main" id="{31D45A6D-135C-8C27-4F13-A3BC79AB3E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CE838069-3AB1-D532-FB66-FDAEA51877B1}"/>
              </a:ext>
            </a:extLst>
          </p:cNvPr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311" name="Freeform 310">
              <a:extLst>
                <a:ext uri="{FF2B5EF4-FFF2-40B4-BE49-F238E27FC236}">
                  <a16:creationId xmlns:a16="http://schemas.microsoft.com/office/drawing/2014/main" id="{E6AE5B0D-79EC-EE9E-636A-1E7D4A6A240A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8B00C66D-FD9B-3996-472E-1CEF16690026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8067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light in the dark&#10;&#10;Description automatically generated">
            <a:extLst>
              <a:ext uri="{FF2B5EF4-FFF2-40B4-BE49-F238E27FC236}">
                <a16:creationId xmlns:a16="http://schemas.microsoft.com/office/drawing/2014/main" id="{963FEC0B-473D-E3B8-1E1E-E29DFA66AD1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D6511197-B1BA-E6CC-13B8-2DD99B355A04}"/>
              </a:ext>
            </a:extLst>
          </p:cNvPr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EE8315B-FEB1-CC4D-6FB1-F5D1F2C1EE95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51C6EC0-0FDE-C123-7424-1752D2374435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FB16D98-C784-FAB9-BCBC-EA53480E5BA8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788DF65-E85A-7EA9-F2BB-B439D5C7EB16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B6421F7-1BA7-70C3-4C7B-0694CD3F9A6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0E8BD61-2DD9-6340-EB16-98CFEA0A221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038A11-FAB8-DE3A-2D5D-3D1F11925688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D45E8E5-E623-933A-074B-D3B9860ABECB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4CE2B77E-5DDA-CC5C-A575-69779E579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2EB3B4-62C2-DB27-F905-7B5310D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41B1F747-977A-C01C-9182-B92C691E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63028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76F31E31-25A6-21A9-5DF2-0E1AA48A3DF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95E5ED2-D1BB-AC6E-BF6A-D4BD239F1FE9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D43938-5757-1C8A-B3BA-59EC353FB6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790791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5BBB5A-0446-3C14-B12C-56A5730E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4EF81A0-CB40-42B3-5E1A-AA5D72BFB4D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C1D2CA-2DB1-76BC-DAFE-210631AEC28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006675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6FA399-654A-7130-1FF0-0F0197A98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01B256-70C6-9663-9CC6-1F22ADBAE7C3}"/>
              </a:ext>
            </a:extLst>
          </p:cNvPr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B2775D-C14D-1FFE-E3E9-4E62DDA32301}"/>
              </a:ext>
            </a:extLst>
          </p:cNvPr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AE2F50B-78AF-04F3-4BFF-980630AF7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73ED8-C1F4-379D-AE01-5E7A3D5F34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812BC08D-D0F7-900D-1481-4C172F6BE56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B130A-4E65-32BD-4CB8-C7E2B623FD74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6455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167EEE6-F985-2112-F3A8-85F1A04A37B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6D7E4E-2A81-A5AB-16CA-DBCEFBD5914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99404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B25F44-CAE3-AE0B-B97B-B0F6E4B4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E7E8938-439A-DB5B-B3DF-7EF202013D5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067759-C6C3-3B7B-ABF5-859A6A6352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9724B-50FD-5B78-B6B7-D645073026A7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530665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D4830-1AF6-9C3D-EC53-70FC3C7C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BA944B-A631-ACF6-36AE-7C814C7A5C9A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B984E4-95BA-5123-1CFC-48CE97FD819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3327741-8A1F-B922-5F7C-0313A67883A4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903467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D7BB4A-5FCC-BE0E-4598-A4CBBA847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DE89320-B084-3AA1-F041-ECD9699F7EF4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002E9-E0C8-43F6-867E-B59C9AE9217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928389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5E0C7-6CC4-C4E1-946D-4BAC78CC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2E27567-DFCD-709F-AF40-B7A340ECC0FE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C690EE-1BB8-29C6-B9D8-2BD7B4AE078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206802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B9AAE-F698-5F49-FF7D-DB273B1EE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0068369-6C63-44AF-3E4E-30E5F2D1F83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7E7875-967C-8167-6219-7AD2981B3A4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E95023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053374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FCAD8-0916-AF46-1471-030E4128E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A89752D-8E95-B790-7077-E6201AB412C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D7948-9E7C-1CE1-F28B-D2D349BB86F0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C5FD45"/>
                </a:gs>
                <a:gs pos="100000">
                  <a:srgbClr val="80FBFD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720396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388CF986-E6D2-86D0-6501-D59429EAD0A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B4372B3-E211-F19D-CBD9-6CEDF871BD0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87AE7D4-D909-4109-A95D-3FC199CCB2C0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3173B02-1E93-D358-4602-350A7447C7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5E3423F-0FF8-8E54-CEB8-1F15261AFD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3CF5FC1-8EBA-8F68-D0E5-727D21919CE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AE5FDF1F-8E3A-FB66-7C81-266601DA40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91C765C7-1DD0-DFBB-9089-29849D42BA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50B43463-538D-A50A-4299-A6C5A973766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15969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ADC82D1B-1943-B3BC-B7E9-DADF1458A76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F04263E-9F32-7609-1152-7E305FEBE7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E59C0B-A301-47D7-A25C-27D2115D1CC3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7F02905-9FFE-65B7-8565-3E827BBAEC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10BD8AE-BB2B-B523-1D74-4E8DBE2102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6C50EF9C-A411-B76F-4417-55EA0CDCAD2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5CE13AFD-214E-24E8-0633-0508635B5C0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88E5DF2-C2EC-705B-7734-81A5ACCECE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2EF38C94-0C58-F9C8-0963-86769B7977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7784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A6C92DE9-1F7F-6A8E-389D-FBCE38254A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4B60AF8-644E-A0B2-7653-4332A03759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37D316F-1268-4431-A741-5D0F481E1DCF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66D1FDE-8AD4-4D56-5318-1DD8ED2FCA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80F9161-0A5B-9390-AAC5-925D1AE2AA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DFFE949A-6E9F-DCCB-3981-444F818B70A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E874CEB-2D3F-A7FC-68BB-B1E5B73F85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BE24A05-3707-8B71-381D-4FC6EE679AF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FEF9B997-BE91-43C4-F809-E78685E578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81874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rainbow&#10;&#10;Description automatically generated">
            <a:extLst>
              <a:ext uri="{FF2B5EF4-FFF2-40B4-BE49-F238E27FC236}">
                <a16:creationId xmlns:a16="http://schemas.microsoft.com/office/drawing/2014/main" id="{C8E8709F-6A78-59BB-D254-AE4C7F2A57D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A3F83A6-1D48-7A59-F89B-1AD446292A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35555C3-DC00-46EA-9086-667F713D2BC0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E103D91-874B-B49F-B9D9-85F52EAD81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C95BFB4-BABD-DFFF-43A5-9ABB8A6638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798A70C5-9B3E-7941-E067-8A9791BCF2D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F0F4F06-C9A4-A997-AB67-59B717C137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63C193D-825D-B7A7-F2EF-F53A601001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44996D9C-EDDB-9A0C-B93D-E5808F8C79D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71246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9B1A0959-0F7F-FF84-F8C5-2E76E9D45F4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227FF4-7010-4A9A-B837-FB3A97078B9E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2CBC4E2-6D56-5589-38B7-123BB8BE748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8D992E6-EAE7-83CF-5B22-7C7DCDB38DC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DA26C30-C61D-FE6C-E1DC-6A89E2511A9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69AE1E0B-DC05-6DB6-F457-D229556B4C4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16213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rainbow&#10;&#10;Description automatically generated">
            <a:extLst>
              <a:ext uri="{FF2B5EF4-FFF2-40B4-BE49-F238E27FC236}">
                <a16:creationId xmlns:a16="http://schemas.microsoft.com/office/drawing/2014/main" id="{36630E4E-7F64-A84B-6022-F16994E9537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1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100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6564291-F29B-4C72-84F6-A40A5470E5DC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F2D79ED6-4894-2B8B-D862-974AC88E705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F6B658B-99C5-075E-8FBB-F68A5010C4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D5FE3CF-44B0-DC6A-D098-1142A9EF999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0B46547D-1401-03DA-C2CC-733F034C79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42700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rry image of a rainbow&#10;&#10;Description automatically generated">
            <a:extLst>
              <a:ext uri="{FF2B5EF4-FFF2-40B4-BE49-F238E27FC236}">
                <a16:creationId xmlns:a16="http://schemas.microsoft.com/office/drawing/2014/main" id="{0CF60EBF-BB0E-A13F-6F1D-8E03C5FC39A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FFC6-DEA1-5FCD-0ABD-350186AD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/>
          <a:p>
            <a:r>
              <a:rPr lang="en-GB" dirty="0"/>
              <a:t>Contents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8AEA00-448F-1217-B10E-ABF6D402B4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775" y="1411287"/>
            <a:ext cx="5099050" cy="46386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Introduction text goes here and delete the bullet if not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B67F104-BCCD-4057-9F3C-70C29E057A5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06A2DFB-6B6C-4D18-9FE2-B8F776637D13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880D4C2-A728-3810-8EAF-6AC78A949BE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CB206C2-DFD0-9033-25AE-68BCB50C19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A244641-8AF5-E5A2-18FB-105E0DDC42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9647" y="1411287"/>
            <a:ext cx="5610225" cy="463867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1800"/>
            </a:lvl1pPr>
            <a:lvl2pPr marL="914400" indent="-457200">
              <a:defRPr sz="1600"/>
            </a:lvl2pPr>
            <a:lvl3pPr marL="914400" indent="-457200">
              <a:defRPr sz="1600"/>
            </a:lvl3pPr>
            <a:lvl4pPr marL="914400" indent="-457200">
              <a:defRPr sz="1400"/>
            </a:lvl4pPr>
            <a:lvl5pPr marL="914400" indent="-457200">
              <a:defRPr sz="1400"/>
            </a:lvl5pPr>
          </a:lstStyle>
          <a:p>
            <a:pPr lvl="0"/>
            <a:r>
              <a:rPr lang="en-IN" dirty="0"/>
              <a:t>Section header goes here and to insert page numbers use the tab button on the keyboard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A947DDB-75DB-76B2-ADC5-D93B38D4183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77A9F83-CB8D-4479-6968-8B47D931EEB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6B1C04DF-19FD-1D5D-56C9-211BF50EB23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297F736-140F-E853-3848-EA573A1B3C5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42989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right light in the dark&#10;&#10;Description automatically generated">
            <a:extLst>
              <a:ext uri="{FF2B5EF4-FFF2-40B4-BE49-F238E27FC236}">
                <a16:creationId xmlns:a16="http://schemas.microsoft.com/office/drawing/2014/main" id="{C6893964-B096-BBF5-42BC-1EAE055022B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9199D71-1BDD-2925-CD92-9B0B3F8439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5652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8391354-FDE4-DE4D-8084-A61467B9F4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575A1BC-5BD6-1793-C917-0720FC3DE9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16419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CBCE1B-3F39-C7B5-CCE2-AE84242E77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14015C2-B8E4-B890-4CD0-F6A3A2052C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959C9A-F406-FB92-6FFF-08F42234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3621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C6A6256-32C1-F83C-4A32-D674785CF1D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A2165-CDB3-28AA-F42A-E5E3D72C1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623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D4931-12A7-7D80-F380-EDF6BE10C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D52684-7A0E-2BDF-C56C-F721FED04E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7631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D23DAA3-59C7-A352-8728-D157F22D25EF}"/>
              </a:ext>
            </a:extLst>
          </p:cNvPr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7" name="SmartArt Placeholder 35">
            <a:extLst>
              <a:ext uri="{FF2B5EF4-FFF2-40B4-BE49-F238E27FC236}">
                <a16:creationId xmlns:a16="http://schemas.microsoft.com/office/drawing/2014/main" id="{D33DFC67-321E-4CFE-436A-CF6FA96BA7E4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8" name="SmartArt Placeholder 35">
            <a:extLst>
              <a:ext uri="{FF2B5EF4-FFF2-40B4-BE49-F238E27FC236}">
                <a16:creationId xmlns:a16="http://schemas.microsoft.com/office/drawing/2014/main" id="{A43CB924-4778-AEB3-1D6C-5B802CD043B0}"/>
              </a:ext>
            </a:extLst>
          </p:cNvPr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9" name="SmartArt Placeholder 35">
            <a:extLst>
              <a:ext uri="{FF2B5EF4-FFF2-40B4-BE49-F238E27FC236}">
                <a16:creationId xmlns:a16="http://schemas.microsoft.com/office/drawing/2014/main" id="{225723D6-9330-76F1-3F3B-6A582AC1C154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19C0555-55BD-32D2-B375-0C0BC6641F54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fld id="{DA23ABC7-F7D1-458D-8379-E93325B473CE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AA8F600-C044-B2C2-407F-BE157F6651C1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4E7CD09-1595-ACE1-D22D-0DB2944898EF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C73356B1-351A-A1D6-028F-C9736D731FF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EE1F1DF-83E2-9910-8487-D0B14E0DA5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86EFBE9B-F67C-6359-549F-FC22A1C483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AEDED04-6A1F-9E39-1C85-4BA396FAFF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982410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C39DD3F9-9341-288C-0536-DED981D0E40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006E5E-EB55-C43F-A9B4-8DABEB5C23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3FD8F32-F279-4432-8A58-F81E65857C65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45F7D0D-6905-1D3D-D30A-EBA5E1125CB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363F73-563F-BF23-4175-916ADF6ADD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05920F1D-0D06-535C-A00E-C9CA8D25274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8A16D72-94EE-8CC0-084C-EB87F8781A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0BB2990-3047-821E-17D7-0DDDFF6CB30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3AEE2A3-1722-B883-C7FC-01A81806B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85019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BFF9BC5C-A44C-B902-3ACE-C29AC4CE3E4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1B29507-2BB1-EC71-EE9B-8A9EE3F01E0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DF6730-D992-44FA-AE6C-4CBAE491A1A2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046374F-F6C3-5157-DBE0-F11F0D83F9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71B9A51-27B6-2F80-3AE9-7FB1599561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2C0D9E54-A379-A966-154D-4362D29B3307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9CE3A53-E53C-AAAA-CD1C-C8F1C56FA3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3FDBF06-36FA-A0E2-B3E6-78DF2439777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584168FE-6E03-EFEE-BF63-87C62DF46A2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923741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6086DA-FAB4-D672-5D3E-0B069D2B2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A46848-8969-3428-7E66-3827EB17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959" y="4980757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B5CC24-699C-7858-0807-40619F0D53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4961" y="5184857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FFEAF1E-587A-2BBD-24CD-BAC3592390EE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B4BF55FC-51F2-4183-8D9E-66AF05973F62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C22E0FE-1715-0380-EFE7-5D520713B07F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820BCA4-5D74-8EE6-4914-C7C86F87E3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82A0447-0820-5F05-7D32-3BE15F1948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2884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“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A771E8A-8B2A-ED69-3AEC-E5AEDB16F0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4959" y="1958113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Quote goes here.</a:t>
            </a:r>
          </a:p>
        </p:txBody>
      </p:sp>
      <p:sp>
        <p:nvSpPr>
          <p:cNvPr id="15" name="SmartArt Placeholder 13">
            <a:extLst>
              <a:ext uri="{FF2B5EF4-FFF2-40B4-BE49-F238E27FC236}">
                <a16:creationId xmlns:a16="http://schemas.microsoft.com/office/drawing/2014/main" id="{C17B20F9-AA7C-A405-6236-9619CB287E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34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SmartArt Placeholder 14">
            <a:extLst>
              <a:ext uri="{FF2B5EF4-FFF2-40B4-BE49-F238E27FC236}">
                <a16:creationId xmlns:a16="http://schemas.microsoft.com/office/drawing/2014/main" id="{273647F7-B9AC-34AD-37A2-51B8AB0D58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5848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4648CD8-B307-812B-5BD0-91AA365C73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4" name="Date Placeholder 8">
            <a:extLst>
              <a:ext uri="{FF2B5EF4-FFF2-40B4-BE49-F238E27FC236}">
                <a16:creationId xmlns:a16="http://schemas.microsoft.com/office/drawing/2014/main" id="{2B2A75B8-AC69-234D-6453-3F51196F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fld id="{652BD6B2-147A-4042-9CBA-A712275A0170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D1F90C88-74CB-BCA1-B76D-286F3EBE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85104006-7F28-1301-537B-8A442233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SmartArt Placeholder 13">
            <a:extLst>
              <a:ext uri="{FF2B5EF4-FFF2-40B4-BE49-F238E27FC236}">
                <a16:creationId xmlns:a16="http://schemas.microsoft.com/office/drawing/2014/main" id="{C1050600-C16E-B87E-A2FD-AE302C51009E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SmartArt Placeholder 14">
            <a:extLst>
              <a:ext uri="{FF2B5EF4-FFF2-40B4-BE49-F238E27FC236}">
                <a16:creationId xmlns:a16="http://schemas.microsoft.com/office/drawing/2014/main" id="{2358EBAA-AAE1-278D-A8F7-2D66E11CDE43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450805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80353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yellow circle&#10;&#10;Description automatically generated with medium confidence">
            <a:extLst>
              <a:ext uri="{FF2B5EF4-FFF2-40B4-BE49-F238E27FC236}">
                <a16:creationId xmlns:a16="http://schemas.microsoft.com/office/drawing/2014/main" id="{0CE0EE1C-69FD-A2A1-0E47-EEBF86AA5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047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26" Type="http://schemas.openxmlformats.org/officeDocument/2006/relationships/slideLayout" Target="../slideLayouts/slideLayout62.xml"/><Relationship Id="rId3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57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61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8.xml"/><Relationship Id="rId27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24pt</a:t>
            </a:r>
            <a:r>
              <a:rPr lang="en-US" dirty="0"/>
              <a:t> for key pull out text</a:t>
            </a:r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" name="Date Placeholder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D35571C-79AE-4364-8711-229A3604333E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3762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  <p:sldLayoutId id="2147484006" r:id="rId2"/>
    <p:sldLayoutId id="2147484000" r:id="rId3"/>
    <p:sldLayoutId id="2147484042" r:id="rId4"/>
    <p:sldLayoutId id="2147483998" r:id="rId5"/>
    <p:sldLayoutId id="2147484043" r:id="rId6"/>
    <p:sldLayoutId id="2147484206" r:id="rId7"/>
    <p:sldLayoutId id="2147484161" r:id="rId8"/>
    <p:sldLayoutId id="2147483975" r:id="rId9"/>
    <p:sldLayoutId id="2147484209" r:id="rId10"/>
    <p:sldLayoutId id="2147484210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+mj-lt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1200"/>
        </a:spcBef>
        <a:spcAft>
          <a:spcPts val="1200"/>
        </a:spcAft>
        <a:buClr>
          <a:schemeClr val="tx2"/>
        </a:buClr>
        <a:buFont typeface="Wingdings" pitchFamily="2" charset="2"/>
        <a:buNone/>
        <a:tabLst/>
        <a:defRPr sz="2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pos="302" userDrawn="1">
          <p15:clr>
            <a:srgbClr val="F26B43"/>
          </p15:clr>
        </p15:guide>
        <p15:guide id="47" pos="7378" userDrawn="1">
          <p15:clr>
            <a:srgbClr val="F26B43"/>
          </p15:clr>
        </p15:guide>
        <p15:guide id="55" orient="horz" pos="890" userDrawn="1">
          <p15:clr>
            <a:srgbClr val="F26B43"/>
          </p15:clr>
        </p15:guide>
        <p15:guide id="58" orient="horz" pos="527" userDrawn="1">
          <p15:clr>
            <a:srgbClr val="F26B43"/>
          </p15:clr>
        </p15:guide>
        <p15:guide id="78" orient="horz" pos="3838" userDrawn="1">
          <p15:clr>
            <a:srgbClr val="F26B43"/>
          </p15:clr>
        </p15:guide>
        <p15:guide id="79" orient="horz" pos="21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24pt</a:t>
            </a:r>
            <a:r>
              <a:rPr lang="en-US" dirty="0"/>
              <a:t> for key pull out text</a:t>
            </a:r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" name="Date Placeholder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871E53D-EDC0-4486-915E-BB4E0FAB6099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1247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0" r:id="rId1"/>
    <p:sldLayoutId id="2147484121" r:id="rId2"/>
    <p:sldLayoutId id="2147484122" r:id="rId3"/>
    <p:sldLayoutId id="2147484123" r:id="rId4"/>
    <p:sldLayoutId id="2147484124" r:id="rId5"/>
    <p:sldLayoutId id="2147484125" r:id="rId6"/>
    <p:sldLayoutId id="2147484126" r:id="rId7"/>
    <p:sldLayoutId id="2147484127" r:id="rId8"/>
    <p:sldLayoutId id="2147484128" r:id="rId9"/>
    <p:sldLayoutId id="2147484211" r:id="rId10"/>
    <p:sldLayoutId id="2147484212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+mj-lt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1200"/>
        </a:spcBef>
        <a:spcAft>
          <a:spcPts val="1200"/>
        </a:spcAft>
        <a:buClr>
          <a:schemeClr val="tx2"/>
        </a:buClr>
        <a:buFont typeface="Wingdings" pitchFamily="2" charset="2"/>
        <a:buNone/>
        <a:tabLst/>
        <a:defRPr sz="2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pos="302" userDrawn="1">
          <p15:clr>
            <a:srgbClr val="F26B43"/>
          </p15:clr>
        </p15:guide>
        <p15:guide id="52" orient="horz" pos="527" userDrawn="1">
          <p15:clr>
            <a:srgbClr val="F26B43"/>
          </p15:clr>
        </p15:guide>
        <p15:guide id="53" pos="7378" userDrawn="1">
          <p15:clr>
            <a:srgbClr val="F26B43"/>
          </p15:clr>
        </p15:guide>
        <p15:guide id="54" orient="horz" pos="3838" userDrawn="1">
          <p15:clr>
            <a:srgbClr val="F26B43"/>
          </p15:clr>
        </p15:guide>
        <p15:guide id="55" orient="horz" pos="890" userDrawn="1">
          <p15:clr>
            <a:srgbClr val="F26B43"/>
          </p15:clr>
        </p15:guide>
        <p15:guide id="56" orient="horz" pos="21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16pt</a:t>
            </a:r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16pt</a:t>
            </a:r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14pt</a:t>
            </a:r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14pt</a:t>
            </a:r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12pt</a:t>
            </a:r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12pt</a:t>
            </a:r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11pt</a:t>
            </a:r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10pt</a:t>
            </a:r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20pt for key pull out text</a:t>
            </a:r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" name="Date Placeholder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57CFB5D-D3F0-49E7-BBF9-DF206229E077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422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6" r:id="rId1"/>
    <p:sldLayoutId id="2147484087" r:id="rId2"/>
    <p:sldLayoutId id="2147484088" r:id="rId3"/>
    <p:sldLayoutId id="2147484095" r:id="rId4"/>
    <p:sldLayoutId id="2147484099" r:id="rId5"/>
    <p:sldLayoutId id="2147484089" r:id="rId6"/>
    <p:sldLayoutId id="2147484090" r:id="rId7"/>
    <p:sldLayoutId id="2147484096" r:id="rId8"/>
    <p:sldLayoutId id="2147484097" r:id="rId9"/>
    <p:sldLayoutId id="2147484092" r:id="rId10"/>
    <p:sldLayoutId id="2147484100" r:id="rId11"/>
    <p:sldLayoutId id="2147484094" r:id="rId12"/>
    <p:sldLayoutId id="2147484213" r:id="rId13"/>
    <p:sldLayoutId id="2147484214" r:id="rId14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1" i="0" kern="1200">
          <a:solidFill>
            <a:schemeClr val="tx2"/>
          </a:solidFill>
          <a:latin typeface="+mj-lt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2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000" kern="1200">
          <a:solidFill>
            <a:schemeClr val="bg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1200"/>
        </a:spcBef>
        <a:spcAft>
          <a:spcPts val="1200"/>
        </a:spcAft>
        <a:buClr>
          <a:schemeClr val="tx2"/>
        </a:buClr>
        <a:buFont typeface="Wingdings" pitchFamily="2" charset="2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3" pos="302" userDrawn="1">
          <p15:clr>
            <a:srgbClr val="F26B43"/>
          </p15:clr>
        </p15:guide>
        <p15:guide id="45" pos="7378" userDrawn="1">
          <p15:clr>
            <a:srgbClr val="F26B43"/>
          </p15:clr>
        </p15:guide>
        <p15:guide id="58" orient="horz" pos="663" userDrawn="1">
          <p15:clr>
            <a:srgbClr val="F26B43"/>
          </p15:clr>
        </p15:guide>
        <p15:guide id="59" orient="horz" pos="255" userDrawn="1">
          <p15:clr>
            <a:srgbClr val="F26B43"/>
          </p15:clr>
        </p15:guide>
        <p15:guide id="60" orient="horz" pos="890" userDrawn="1">
          <p15:clr>
            <a:srgbClr val="F26B43"/>
          </p15:clr>
        </p15:guide>
        <p15:guide id="61" orient="horz" pos="383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D74E7B3-73BA-6CBF-F361-5C4836CC1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Date Placeholder">
            <a:extLst>
              <a:ext uri="{FF2B5EF4-FFF2-40B4-BE49-F238E27FC236}">
                <a16:creationId xmlns:a16="http://schemas.microsoft.com/office/drawing/2014/main" id="{F72B6F9D-B29D-E927-36D7-47D672109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1B22532-B74A-42F2-AC78-F979D73BFCAB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15" name="Footer Placeholder">
            <a:extLst>
              <a:ext uri="{FF2B5EF4-FFF2-40B4-BE49-F238E27FC236}">
                <a16:creationId xmlns:a16="http://schemas.microsoft.com/office/drawing/2014/main" id="{F3C10C79-9BC5-0699-5C8C-F8347F464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399062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5" r:id="rId1"/>
    <p:sldLayoutId id="2147484076" r:id="rId2"/>
    <p:sldLayoutId id="2147484078" r:id="rId3"/>
    <p:sldLayoutId id="2147484153" r:id="rId4"/>
    <p:sldLayoutId id="2147484154" r:id="rId5"/>
    <p:sldLayoutId id="2147484116" r:id="rId6"/>
    <p:sldLayoutId id="2147484117" r:id="rId7"/>
    <p:sldLayoutId id="2147484118" r:id="rId8"/>
    <p:sldLayoutId id="2147484111" r:id="rId9"/>
    <p:sldLayoutId id="2147484112" r:id="rId10"/>
    <p:sldLayoutId id="2147484113" r:id="rId11"/>
    <p:sldLayoutId id="2147484114" r:id="rId12"/>
    <p:sldLayoutId id="2147484079" r:id="rId13"/>
    <p:sldLayoutId id="2147484080" r:id="rId14"/>
    <p:sldLayoutId id="2147484082" r:id="rId15"/>
    <p:sldLayoutId id="2147484083" r:id="rId16"/>
    <p:sldLayoutId id="2147484081" r:id="rId17"/>
    <p:sldLayoutId id="2147484155" r:id="rId18"/>
    <p:sldLayoutId id="2147484004" r:id="rId19"/>
    <p:sldLayoutId id="2147483984" r:id="rId20"/>
    <p:sldLayoutId id="2147484041" r:id="rId21"/>
    <p:sldLayoutId id="2147484084" r:id="rId22"/>
    <p:sldLayoutId id="2147484028" r:id="rId23"/>
    <p:sldLayoutId id="2147484014" r:id="rId24"/>
    <p:sldLayoutId id="2147484019" r:id="rId25"/>
    <p:sldLayoutId id="2147484208" r:id="rId26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+mj-lt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 userDrawn="1">
          <p15:clr>
            <a:srgbClr val="F26B43"/>
          </p15:clr>
        </p15:guide>
        <p15:guide id="35" pos="302" userDrawn="1">
          <p15:clr>
            <a:srgbClr val="F26B43"/>
          </p15:clr>
        </p15:guide>
        <p15:guide id="36" orient="horz" pos="210" userDrawn="1">
          <p15:clr>
            <a:srgbClr val="F26B43"/>
          </p15:clr>
        </p15:guide>
        <p15:guide id="37" orient="horz" pos="527" userDrawn="1">
          <p15:clr>
            <a:srgbClr val="F26B43"/>
          </p15:clr>
        </p15:guide>
        <p15:guide id="38" orient="horz" pos="890" userDrawn="1">
          <p15:clr>
            <a:srgbClr val="F26B43"/>
          </p15:clr>
        </p15:guide>
        <p15:guide id="39" orient="horz" pos="38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ctr"/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Monitorizarea intervențiilor neautorizate și a contoarelor defecte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86968" y="2514600"/>
            <a:ext cx="4892040" cy="1097280"/>
          </a:xfrm>
        </p:spPr>
        <p:txBody>
          <a:bodyPr lIns="0" tIns="0" rIns="0" bIns="0" anchor="ctr"/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SAS Visual Analytics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 lIns="0" tIns="0" rIns="0" bIns="0" anchor="ctr"/>
          <a:lstStyle/>
          <a:p>
            <a:pPr algn="l"/>
            <a:r>
              <a:rPr sz="1000" b="0">
                <a:solidFill>
                  <a:srgbClr val="E0E0E4"/>
                </a:solidFill>
                <a:latin typeface="Arial"/>
              </a:rPr>
              <a:t>Capabilități de analiză și investigare în cele două rapoarte operaționale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01168"/>
            <a:ext cx="10972800" cy="530352"/>
          </a:xfrm>
        </p:spPr>
        <p:txBody>
          <a:bodyPr wrap="square" lIns="0" tIns="0" rIns="0" bIns="0" anchor="ctr"/>
          <a:lstStyle/>
          <a:p>
            <a:pPr algn="l"/>
            <a:r>
              <a:rPr sz="2300" b="1">
                <a:solidFill>
                  <a:srgbClr val="FFE600"/>
                </a:solidFill>
                <a:latin typeface="Arial"/>
              </a:rPr>
              <a:t>Cum se utilizează soluția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600" b="0">
                <a:solidFill>
                  <a:srgbClr val="E0E0E4"/>
                </a:solidFill>
                <a:latin typeface="Arial"/>
              </a:rPr>
              <a:t>Cele două rapoarte formează un flux unic: de la prioritizarea cazurilor la investigarea detaliată a unui loc de consum.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3429000" cy="3063240"/>
          </a:xfrm>
          <a:prstGeom prst="roundRect">
            <a:avLst/>
          </a:prstGeom>
          <a:solidFill>
            <a:srgbClr val="2A2A36"/>
          </a:solidFill>
          <a:ln w="1016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67512" y="1673351"/>
            <a:ext cx="384048" cy="384048"/>
          </a:xfrm>
          <a:prstGeom prst="ellipse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F1F26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1645919"/>
            <a:ext cx="2606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Filtrare și prioritizare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167128"/>
            <a:ext cx="3026664" cy="2258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300" b="0">
                <a:solidFill>
                  <a:srgbClr val="E0E0E4"/>
                </a:solidFill>
                <a:latin typeface="Arial"/>
              </a:rPr>
              <a:t>Selectarea tipului de client, localității, segmentului Electricitate/Gaz, statusului Verificat/Neverificat și a intervalului de probabilitate.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429000" cy="3063240"/>
          </a:xfrm>
          <a:prstGeom prst="roundRect">
            <a:avLst/>
          </a:prstGeom>
          <a:solidFill>
            <a:srgbClr val="2A2A36"/>
          </a:solidFill>
          <a:ln w="1016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53712" y="1673351"/>
            <a:ext cx="384048" cy="384048"/>
          </a:xfrm>
          <a:prstGeom prst="ellipse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F1F26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7488" y="1645919"/>
            <a:ext cx="2606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Analiză regională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167128"/>
            <a:ext cx="3026664" cy="2258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300" b="0">
                <a:solidFill>
                  <a:srgbClr val="E0E0E4"/>
                </a:solidFill>
                <a:latin typeface="Arial"/>
              </a:rPr>
              <a:t>Vizualizarea concentrării cazurilor pe județe și localități, distribuției cazurilor, Treemap-ului de prioritizare și listei detaliate de locuri de consum.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508760"/>
            <a:ext cx="3429000" cy="3063240"/>
          </a:xfrm>
          <a:prstGeom prst="roundRect">
            <a:avLst/>
          </a:prstGeom>
          <a:solidFill>
            <a:srgbClr val="2A2A36"/>
          </a:solidFill>
          <a:ln w="1016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39912" y="1673351"/>
            <a:ext cx="384048" cy="384048"/>
          </a:xfrm>
          <a:prstGeom prst="ellipse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F1F26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88" y="1645919"/>
            <a:ext cx="2606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Investigarea clientului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2167128"/>
            <a:ext cx="3026664" cy="2258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300" b="0">
                <a:solidFill>
                  <a:srgbClr val="E0E0E4"/>
                </a:solidFill>
                <a:latin typeface="Arial"/>
              </a:rPr>
              <a:t>Deschiderea locului de consum selectat și analizarea consumului, identității, datelor tehnice și rezultatelor verificărilor.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59352" y="3044952"/>
            <a:ext cx="356616" cy="0"/>
          </a:xfrm>
          <a:prstGeom prst="line">
            <a:avLst/>
          </a:prstGeom>
          <a:ln w="27940">
            <a:solidFill>
              <a:srgbClr val="FFE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45552" y="3044952"/>
            <a:ext cx="356616" cy="0"/>
          </a:xfrm>
          <a:prstGeom prst="line">
            <a:avLst/>
          </a:prstGeom>
          <a:ln w="27940">
            <a:solidFill>
              <a:srgbClr val="FFE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2920" y="4965192"/>
            <a:ext cx="11201400" cy="841248"/>
          </a:xfrm>
          <a:prstGeom prst="rect">
            <a:avLst/>
          </a:prstGeom>
          <a:solidFill>
            <a:srgbClr val="1D1D27"/>
          </a:solidFill>
          <a:ln w="1016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5166360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Scop operațional: restrângerea rapidă a ariei de analiză și prioritizarea verificărilor în teren.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6437376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dirty="0"/>
              <a:t>05.10.2026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6437376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 b="0">
                <a:solidFill>
                  <a:srgbClr val="A6A6B0"/>
                </a:solidFill>
                <a:latin typeface="Arial"/>
              </a:rPr>
              <a:t>SAS Visual Analytics | Monitorizare intervenții neautorizate și contoare defecte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6437376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 b="0">
                <a:solidFill>
                  <a:srgbClr val="A6A6B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90349"/>
            <a:ext cx="12191695" cy="451406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/>
            <a:r>
              <a:rPr sz="2600" b="1" dirty="0">
                <a:solidFill>
                  <a:schemeClr val="bg1"/>
                </a:solidFill>
                <a:latin typeface="Segoe UI"/>
              </a:rPr>
              <a:t>Refresh &amp; Transfer Date – SAS Visual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92712"/>
            <a:ext cx="12191695" cy="251351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/>
            <a:r>
              <a:rPr sz="1300" b="0" dirty="0" err="1">
                <a:solidFill>
                  <a:schemeClr val="bg1"/>
                </a:solidFill>
                <a:latin typeface="Segoe UI"/>
              </a:rPr>
              <a:t>Orchestrare</a:t>
            </a:r>
            <a:r>
              <a:rPr sz="1300" b="0" dirty="0">
                <a:solidFill>
                  <a:schemeClr val="bg1"/>
                </a:solidFill>
                <a:latin typeface="Segoe UI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Segoe UI"/>
              </a:rPr>
              <a:t>zilnica</a:t>
            </a:r>
            <a:r>
              <a:rPr sz="1300" b="0" dirty="0">
                <a:solidFill>
                  <a:schemeClr val="bg1"/>
                </a:solidFill>
                <a:latin typeface="Segoe UI"/>
              </a:rPr>
              <a:t> automata: Linux `at`  →  </a:t>
            </a:r>
            <a:r>
              <a:rPr sz="1300" b="0" dirty="0" err="1">
                <a:solidFill>
                  <a:schemeClr val="bg1"/>
                </a:solidFill>
                <a:latin typeface="Segoe UI"/>
              </a:rPr>
              <a:t>proceduri</a:t>
            </a:r>
            <a:r>
              <a:rPr sz="1300" b="0" dirty="0">
                <a:solidFill>
                  <a:schemeClr val="bg1"/>
                </a:solidFill>
                <a:latin typeface="Segoe UI"/>
              </a:rPr>
              <a:t> PostgreSQL  →  dashboards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78808" y="1143000"/>
            <a:ext cx="3840480" cy="566928"/>
          </a:xfrm>
          <a:prstGeom prst="roundRect">
            <a:avLst/>
          </a:prstGeom>
          <a:solidFill>
            <a:srgbClr val="37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update_ntl.sh  –  Script principal de planificare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78808" y="1938528"/>
            <a:ext cx="3840480" cy="566928"/>
          </a:xfrm>
          <a:prstGeom prst="roundRect">
            <a:avLst/>
          </a:prstGeom>
          <a:solidFill>
            <a:srgbClr val="2E7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Linux Scheduler  –  comanda  `at`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9048" y="1709928"/>
            <a:ext cx="0" cy="228600"/>
          </a:xfrm>
          <a:prstGeom prst="bentConnector3">
            <a:avLst/>
          </a:prstGeom>
          <a:ln w="22225">
            <a:solidFill>
              <a:srgbClr val="9AA8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9048" y="2505456"/>
            <a:ext cx="0" cy="219456"/>
          </a:xfrm>
          <a:prstGeom prst="bentConnector3">
            <a:avLst/>
          </a:prstGeom>
          <a:ln w="22225">
            <a:solidFill>
              <a:srgbClr val="9AA8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81912" y="2724912"/>
            <a:ext cx="9025128" cy="0"/>
          </a:xfrm>
          <a:prstGeom prst="bentConnector3">
            <a:avLst/>
          </a:prstGeom>
          <a:ln w="22225">
            <a:solidFill>
              <a:srgbClr val="9AA8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45336" y="2724912"/>
            <a:ext cx="0" cy="128016"/>
          </a:xfrm>
          <a:prstGeom prst="bentConnector3">
            <a:avLst/>
          </a:prstGeom>
          <a:ln w="22225">
            <a:solidFill>
              <a:srgbClr val="9AA8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42415" y="2852928"/>
            <a:ext cx="1005840" cy="384048"/>
          </a:xfrm>
          <a:prstGeom prst="round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02:00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45336" y="3236976"/>
            <a:ext cx="0" cy="164592"/>
          </a:xfrm>
          <a:prstGeom prst="bentConnector3">
            <a:avLst/>
          </a:prstGeom>
          <a:ln w="22225">
            <a:solidFill>
              <a:srgbClr val="9AA8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" y="3401568"/>
            <a:ext cx="1993392" cy="457200"/>
          </a:xfrm>
          <a:prstGeom prst="roundRect">
            <a:avLst/>
          </a:prstGeom>
          <a:solidFill>
            <a:srgbClr val="4C8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start_sas_1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545336" y="3858768"/>
            <a:ext cx="0" cy="164592"/>
          </a:xfrm>
          <a:prstGeom prst="bentConnector3">
            <a:avLst/>
          </a:prstGeom>
          <a:ln w="22225">
            <a:solidFill>
              <a:srgbClr val="9AA8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8640" y="4023360"/>
            <a:ext cx="1993392" cy="749808"/>
          </a:xfrm>
          <a:prstGeom prst="roundRect">
            <a:avLst/>
          </a:prstGeom>
          <a:solidFill>
            <a:srgbClr val="6F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sas_1_usp_refresh_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rezultate_frauda_publish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45336" y="4773168"/>
            <a:ext cx="0" cy="164592"/>
          </a:xfrm>
          <a:prstGeom prst="bentConnector3">
            <a:avLst/>
          </a:prstGeom>
          <a:ln w="22225">
            <a:solidFill>
              <a:srgbClr val="9AA8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4937760"/>
            <a:ext cx="1993392" cy="749808"/>
          </a:xfrm>
          <a:prstGeom prst="roundRect">
            <a:avLst/>
          </a:prstGeom>
          <a:solidFill>
            <a:srgbClr val="3F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rezultate_frauda_publish</a:t>
            </a:r>
          </a:p>
          <a:p>
            <a:pPr algn="ctr"/>
            <a:r>
              <a:rPr sz="850" b="0">
                <a:solidFill>
                  <a:srgbClr val="E9FBF2"/>
                </a:solidFill>
                <a:latin typeface="Segoe UI"/>
              </a:rPr>
              <a:t>136.022 randuri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45336" y="5687568"/>
            <a:ext cx="0" cy="201168"/>
          </a:xfrm>
          <a:prstGeom prst="bentConnector3">
            <a:avLst/>
          </a:prstGeom>
          <a:ln w="22225">
            <a:solidFill>
              <a:srgbClr val="9AA8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20591" y="2724912"/>
            <a:ext cx="0" cy="128016"/>
          </a:xfrm>
          <a:prstGeom prst="bentConnector3">
            <a:avLst/>
          </a:prstGeom>
          <a:ln w="22225">
            <a:solidFill>
              <a:srgbClr val="9AA8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17671" y="2852928"/>
            <a:ext cx="1005840" cy="384048"/>
          </a:xfrm>
          <a:prstGeom prst="round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04:00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20591" y="3236976"/>
            <a:ext cx="0" cy="164592"/>
          </a:xfrm>
          <a:prstGeom prst="bentConnector3">
            <a:avLst/>
          </a:prstGeom>
          <a:ln w="22225">
            <a:solidFill>
              <a:srgbClr val="9AA8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23895" y="3401568"/>
            <a:ext cx="1993392" cy="457200"/>
          </a:xfrm>
          <a:prstGeom prst="roundRect">
            <a:avLst/>
          </a:prstGeom>
          <a:solidFill>
            <a:srgbClr val="4C8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start_sas_2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20591" y="3858768"/>
            <a:ext cx="0" cy="164592"/>
          </a:xfrm>
          <a:prstGeom prst="bentConnector3">
            <a:avLst/>
          </a:prstGeom>
          <a:ln w="22225">
            <a:solidFill>
              <a:srgbClr val="9AA8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823895" y="4023360"/>
            <a:ext cx="1993392" cy="749808"/>
          </a:xfrm>
          <a:prstGeom prst="roundRect">
            <a:avLst/>
          </a:prstGeom>
          <a:solidFill>
            <a:srgbClr val="6F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sas_2_usp_refresh_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consum_silver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20591" y="4773168"/>
            <a:ext cx="0" cy="164592"/>
          </a:xfrm>
          <a:prstGeom prst="bentConnector3">
            <a:avLst/>
          </a:prstGeom>
          <a:ln w="22225">
            <a:solidFill>
              <a:srgbClr val="9AA8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823895" y="4937760"/>
            <a:ext cx="1993392" cy="749808"/>
          </a:xfrm>
          <a:prstGeom prst="roundRect">
            <a:avLst/>
          </a:prstGeom>
          <a:solidFill>
            <a:srgbClr val="3F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consum_silver</a:t>
            </a:r>
          </a:p>
          <a:p>
            <a:pPr algn="ctr"/>
            <a:r>
              <a:rPr sz="850" b="0">
                <a:solidFill>
                  <a:srgbClr val="E9FBF2"/>
                </a:solidFill>
                <a:latin typeface="Segoe UI"/>
              </a:rPr>
              <a:t>2.269.442 randuri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20591" y="5687568"/>
            <a:ext cx="0" cy="201168"/>
          </a:xfrm>
          <a:prstGeom prst="bentConnector3">
            <a:avLst/>
          </a:prstGeom>
          <a:ln w="22225">
            <a:solidFill>
              <a:srgbClr val="9AA8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5847" y="2724912"/>
            <a:ext cx="0" cy="128016"/>
          </a:xfrm>
          <a:prstGeom prst="bentConnector3">
            <a:avLst/>
          </a:prstGeom>
          <a:ln w="22225">
            <a:solidFill>
              <a:srgbClr val="9AA8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592927" y="2852928"/>
            <a:ext cx="1005840" cy="384048"/>
          </a:xfrm>
          <a:prstGeom prst="round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07:00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5847" y="3236976"/>
            <a:ext cx="0" cy="164592"/>
          </a:xfrm>
          <a:prstGeom prst="bentConnector3">
            <a:avLst/>
          </a:prstGeom>
          <a:ln w="22225">
            <a:solidFill>
              <a:srgbClr val="9AA8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099151" y="3401568"/>
            <a:ext cx="1993392" cy="457200"/>
          </a:xfrm>
          <a:prstGeom prst="roundRect">
            <a:avLst/>
          </a:prstGeom>
          <a:solidFill>
            <a:srgbClr val="4C8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start_sas_3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95847" y="3858768"/>
            <a:ext cx="0" cy="164592"/>
          </a:xfrm>
          <a:prstGeom prst="bentConnector3">
            <a:avLst/>
          </a:prstGeom>
          <a:ln w="22225">
            <a:solidFill>
              <a:srgbClr val="9AA8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099151" y="4023360"/>
            <a:ext cx="1993392" cy="749808"/>
          </a:xfrm>
          <a:prstGeom prst="roundRect">
            <a:avLst/>
          </a:prstGeom>
          <a:solidFill>
            <a:srgbClr val="6F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sas_3_usp_refresh_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informatii_de_business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95847" y="4773168"/>
            <a:ext cx="0" cy="164592"/>
          </a:xfrm>
          <a:prstGeom prst="bentConnector3">
            <a:avLst/>
          </a:prstGeom>
          <a:ln w="22225">
            <a:solidFill>
              <a:srgbClr val="9AA8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099151" y="4937760"/>
            <a:ext cx="1993392" cy="749808"/>
          </a:xfrm>
          <a:prstGeom prst="roundRect">
            <a:avLst/>
          </a:prstGeom>
          <a:solidFill>
            <a:srgbClr val="3F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informatii_de_business_publish</a:t>
            </a:r>
          </a:p>
          <a:p>
            <a:pPr algn="ctr"/>
            <a:r>
              <a:rPr sz="850" b="0">
                <a:solidFill>
                  <a:srgbClr val="E9FBF2"/>
                </a:solidFill>
                <a:latin typeface="Segoe UI"/>
              </a:rPr>
              <a:t>136.104 randuri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95847" y="5687568"/>
            <a:ext cx="0" cy="201168"/>
          </a:xfrm>
          <a:prstGeom prst="bentConnector3">
            <a:avLst/>
          </a:prstGeom>
          <a:ln w="22225">
            <a:solidFill>
              <a:srgbClr val="9AA8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371103" y="2724912"/>
            <a:ext cx="0" cy="128016"/>
          </a:xfrm>
          <a:prstGeom prst="bentConnector3">
            <a:avLst/>
          </a:prstGeom>
          <a:ln w="22225">
            <a:solidFill>
              <a:srgbClr val="9AA8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868183" y="2852928"/>
            <a:ext cx="1005840" cy="384048"/>
          </a:xfrm>
          <a:prstGeom prst="round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09:00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371103" y="3236976"/>
            <a:ext cx="0" cy="164592"/>
          </a:xfrm>
          <a:prstGeom prst="bentConnector3">
            <a:avLst/>
          </a:prstGeom>
          <a:ln w="22225">
            <a:solidFill>
              <a:srgbClr val="9AA8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374407" y="3401568"/>
            <a:ext cx="1993392" cy="457200"/>
          </a:xfrm>
          <a:prstGeom prst="roundRect">
            <a:avLst/>
          </a:prstGeom>
          <a:solidFill>
            <a:srgbClr val="4C8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start_sas_4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371103" y="3858768"/>
            <a:ext cx="0" cy="164592"/>
          </a:xfrm>
          <a:prstGeom prst="bentConnector3">
            <a:avLst/>
          </a:prstGeom>
          <a:ln w="22225">
            <a:solidFill>
              <a:srgbClr val="9AA8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374407" y="4023360"/>
            <a:ext cx="1993392" cy="749808"/>
          </a:xfrm>
          <a:prstGeom prst="roundRect">
            <a:avLst/>
          </a:prstGeom>
          <a:solidFill>
            <a:srgbClr val="6F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sas_4_usp_refresh_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informatii_tehnice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371103" y="4773168"/>
            <a:ext cx="0" cy="164592"/>
          </a:xfrm>
          <a:prstGeom prst="bentConnector3">
            <a:avLst/>
          </a:prstGeom>
          <a:ln w="22225">
            <a:solidFill>
              <a:srgbClr val="9AA8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374407" y="4937760"/>
            <a:ext cx="1993392" cy="749808"/>
          </a:xfrm>
          <a:prstGeom prst="roundRect">
            <a:avLst/>
          </a:prstGeom>
          <a:solidFill>
            <a:srgbClr val="3F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informatii_tehnice_publish</a:t>
            </a:r>
          </a:p>
          <a:p>
            <a:pPr algn="ctr"/>
            <a:r>
              <a:rPr sz="850" b="0">
                <a:solidFill>
                  <a:srgbClr val="E9FBF2"/>
                </a:solidFill>
                <a:latin typeface="Segoe UI"/>
              </a:rPr>
              <a:t>32.538 randuri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371103" y="5687568"/>
            <a:ext cx="0" cy="201168"/>
          </a:xfrm>
          <a:prstGeom prst="bentConnector3">
            <a:avLst/>
          </a:prstGeom>
          <a:ln w="22225">
            <a:solidFill>
              <a:srgbClr val="9AA8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646359" y="2724912"/>
            <a:ext cx="0" cy="128016"/>
          </a:xfrm>
          <a:prstGeom prst="bentConnector3">
            <a:avLst/>
          </a:prstGeom>
          <a:ln w="22225">
            <a:solidFill>
              <a:srgbClr val="9AA8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143439" y="2852928"/>
            <a:ext cx="1005840" cy="384048"/>
          </a:xfrm>
          <a:prstGeom prst="round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09:30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646359" y="3236976"/>
            <a:ext cx="0" cy="164592"/>
          </a:xfrm>
          <a:prstGeom prst="bentConnector3">
            <a:avLst/>
          </a:prstGeom>
          <a:ln w="22225">
            <a:solidFill>
              <a:srgbClr val="9AA8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9649663" y="3401568"/>
            <a:ext cx="1993392" cy="457200"/>
          </a:xfrm>
          <a:prstGeom prst="roundRect">
            <a:avLst/>
          </a:prstGeom>
          <a:solidFill>
            <a:srgbClr val="4C8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start_sas_5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646359" y="3858768"/>
            <a:ext cx="0" cy="164592"/>
          </a:xfrm>
          <a:prstGeom prst="bentConnector3">
            <a:avLst/>
          </a:prstGeom>
          <a:ln w="22225">
            <a:solidFill>
              <a:srgbClr val="9AA8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9649663" y="4023360"/>
            <a:ext cx="1993392" cy="749808"/>
          </a:xfrm>
          <a:prstGeom prst="roundRect">
            <a:avLst/>
          </a:prstGeom>
          <a:solidFill>
            <a:srgbClr val="6F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sas_5_usp_refresh_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informatii_verificare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646359" y="4773168"/>
            <a:ext cx="0" cy="164592"/>
          </a:xfrm>
          <a:prstGeom prst="bentConnector3">
            <a:avLst/>
          </a:prstGeom>
          <a:ln w="22225">
            <a:solidFill>
              <a:srgbClr val="9AA8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9649663" y="4937760"/>
            <a:ext cx="1993392" cy="749808"/>
          </a:xfrm>
          <a:prstGeom prst="roundRect">
            <a:avLst/>
          </a:prstGeom>
          <a:solidFill>
            <a:srgbClr val="3F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informatii_verificare_publish</a:t>
            </a:r>
          </a:p>
          <a:p>
            <a:pPr algn="ctr"/>
            <a:r>
              <a:rPr sz="850" b="0">
                <a:solidFill>
                  <a:srgbClr val="E9FBF2"/>
                </a:solidFill>
                <a:latin typeface="Segoe UI"/>
              </a:rPr>
              <a:t>5.049 randuri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0646359" y="5687568"/>
            <a:ext cx="0" cy="201168"/>
          </a:xfrm>
          <a:prstGeom prst="bentConnector3">
            <a:avLst/>
          </a:prstGeom>
          <a:ln w="22225">
            <a:solidFill>
              <a:srgbClr val="9AA8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545336" y="5888736"/>
            <a:ext cx="9101023" cy="0"/>
          </a:xfrm>
          <a:prstGeom prst="bentConnector3">
            <a:avLst/>
          </a:prstGeom>
          <a:ln w="22225">
            <a:solidFill>
              <a:srgbClr val="9AA8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099048" y="5888736"/>
            <a:ext cx="0" cy="128016"/>
          </a:xfrm>
          <a:prstGeom prst="bentConnector3">
            <a:avLst/>
          </a:prstGeom>
          <a:ln w="22225">
            <a:solidFill>
              <a:srgbClr val="9AA8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3566160" y="6016752"/>
            <a:ext cx="5056632" cy="457200"/>
          </a:xfrm>
          <a:prstGeom prst="roundRect">
            <a:avLst/>
          </a:prstGeom>
          <a:solidFill>
            <a:srgbClr val="2B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PostgreSQL  –  schema  sas_visual_analytics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15400" y="6016752"/>
            <a:ext cx="2743200" cy="457200"/>
          </a:xfrm>
          <a:prstGeom prst="roundRect">
            <a:avLst/>
          </a:prstGeom>
          <a:solidFill>
            <a:srgbClr val="B0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Segoe UI"/>
              </a:rPr>
              <a:t>SAS Visual Analytics  –  Dashboards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622792" y="6245352"/>
            <a:ext cx="292608" cy="0"/>
          </a:xfrm>
          <a:prstGeom prst="bentConnector3">
            <a:avLst/>
          </a:prstGeom>
          <a:ln w="25400">
            <a:solidFill>
              <a:srgbClr val="B047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31DA416-1D24-75BF-9141-1BF6DCC3A1B8}"/>
              </a:ext>
            </a:extLst>
          </p:cNvPr>
          <p:cNvSpPr txBox="1"/>
          <p:nvPr/>
        </p:nvSpPr>
        <p:spPr>
          <a:xfrm>
            <a:off x="11682919" y="6439711"/>
            <a:ext cx="254557" cy="313932"/>
          </a:xfrm>
          <a:prstGeom prst="rect">
            <a:avLst/>
          </a:prstGeom>
          <a:noFill/>
        </p:spPr>
        <p:txBody>
          <a:bodyPr wrap="none" lIns="0" tIns="36576" rIns="0" bIns="0" rtlCol="0" anchor="t">
            <a:spAutoFit/>
          </a:bodyPr>
          <a:lstStyle/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endParaRPr lang="ro-RO" sz="2000" dirty="0" err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01168"/>
            <a:ext cx="10972800" cy="530352"/>
          </a:xfrm>
        </p:spPr>
        <p:txBody>
          <a:bodyPr wrap="square" lIns="0" tIns="0" rIns="0" bIns="0" anchor="ctr"/>
          <a:lstStyle/>
          <a:p>
            <a:pPr algn="l"/>
            <a:r>
              <a:rPr sz="2300" b="1">
                <a:solidFill>
                  <a:srgbClr val="FFE600"/>
                </a:solidFill>
                <a:latin typeface="Arial"/>
              </a:rPr>
              <a:t>Dashboard 1 | Cazuri potențiale de fraudă – Vizualizare regională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932688"/>
            <a:ext cx="7973568" cy="5230368"/>
          </a:xfrm>
          <a:prstGeom prst="rect">
            <a:avLst/>
          </a:prstGeom>
          <a:solidFill>
            <a:srgbClr val="343441"/>
          </a:solidFill>
          <a:ln w="10160">
            <a:solidFill>
              <a:srgbClr val="343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074920"/>
            <a:ext cx="758952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/>
            <a:r>
              <a:rPr sz="1300" b="0">
                <a:solidFill>
                  <a:srgbClr val="E0E0E4"/>
                </a:solidFill>
                <a:latin typeface="Arial"/>
              </a:rPr>
              <a:t>Punctul de pornire pentru filtrarea, compararea și localizarea cazurilor identificate de model.</a:t>
            </a:r>
          </a:p>
        </p:txBody>
      </p:sp>
      <p:sp>
        <p:nvSpPr>
          <p:cNvPr id="6" name="Oval 5"/>
          <p:cNvSpPr/>
          <p:nvPr/>
        </p:nvSpPr>
        <p:spPr>
          <a:xfrm>
            <a:off x="8668512" y="1005840"/>
            <a:ext cx="283464" cy="283464"/>
          </a:xfrm>
          <a:prstGeom prst="ellipse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1F26"/>
                </a:solidFill>
                <a:latin typeface="Arial"/>
              </a:rPr>
              <a:t>1</a:t>
            </a:r>
            <a:endParaRPr sz="1200" b="1" dirty="0">
              <a:solidFill>
                <a:srgbClr val="1F1F26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61704" y="987552"/>
            <a:ext cx="2624327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Filtrare multi-criterială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61704" y="1234440"/>
            <a:ext cx="2624327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050" b="0" dirty="0">
                <a:solidFill>
                  <a:srgbClr val="E0E0E4"/>
                </a:solidFill>
                <a:latin typeface="Arial"/>
              </a:rPr>
              <a:t>Tip client, </a:t>
            </a:r>
            <a:r>
              <a:rPr sz="1050" b="0" dirty="0" err="1">
                <a:solidFill>
                  <a:srgbClr val="E0E0E4"/>
                </a:solidFill>
                <a:latin typeface="Arial"/>
              </a:rPr>
              <a:t>localitate</a:t>
            </a:r>
            <a:r>
              <a:rPr sz="1050" b="0" dirty="0">
                <a:solidFill>
                  <a:srgbClr val="E0E0E4"/>
                </a:solidFill>
                <a:latin typeface="Arial"/>
              </a:rPr>
              <a:t>, </a:t>
            </a:r>
            <a:r>
              <a:rPr sz="1050" b="0" dirty="0" err="1">
                <a:solidFill>
                  <a:srgbClr val="E0E0E4"/>
                </a:solidFill>
                <a:latin typeface="Arial"/>
              </a:rPr>
              <a:t>Electricitate</a:t>
            </a:r>
            <a:r>
              <a:rPr sz="1050" b="0" dirty="0">
                <a:solidFill>
                  <a:srgbClr val="E0E0E4"/>
                </a:solidFill>
                <a:latin typeface="Arial"/>
              </a:rPr>
              <a:t>/Gaz, </a:t>
            </a:r>
            <a:r>
              <a:rPr sz="1050" b="0" dirty="0" err="1">
                <a:solidFill>
                  <a:srgbClr val="E0E0E4"/>
                </a:solidFill>
                <a:latin typeface="Arial"/>
              </a:rPr>
              <a:t>Verificat</a:t>
            </a:r>
            <a:r>
              <a:rPr sz="1050" b="0" dirty="0">
                <a:solidFill>
                  <a:srgbClr val="E0E0E4"/>
                </a:solidFill>
                <a:latin typeface="Arial"/>
              </a:rPr>
              <a:t>/</a:t>
            </a:r>
            <a:r>
              <a:rPr sz="1050" b="0" dirty="0" err="1">
                <a:solidFill>
                  <a:srgbClr val="E0E0E4"/>
                </a:solidFill>
                <a:latin typeface="Arial"/>
              </a:rPr>
              <a:t>Neverificat</a:t>
            </a:r>
            <a:r>
              <a:rPr sz="1050" b="0" dirty="0">
                <a:solidFill>
                  <a:srgbClr val="E0E0E4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E0E0E4"/>
                </a:solidFill>
                <a:latin typeface="Arial"/>
              </a:rPr>
              <a:t>și</a:t>
            </a:r>
            <a:r>
              <a:rPr sz="1050" b="0" dirty="0">
                <a:solidFill>
                  <a:srgbClr val="E0E0E4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E0E0E4"/>
                </a:solidFill>
                <a:latin typeface="Arial"/>
              </a:rPr>
              <a:t>probabilitate</a:t>
            </a:r>
            <a:r>
              <a:rPr sz="1050" b="0" dirty="0">
                <a:solidFill>
                  <a:srgbClr val="E0E0E4"/>
                </a:solidFill>
                <a:latin typeface="Arial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8668512" y="1865376"/>
            <a:ext cx="283464" cy="283464"/>
          </a:xfrm>
          <a:prstGeom prst="ellipse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F1F26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61704" y="1847088"/>
            <a:ext cx="2624327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Analiză pe județ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61704" y="2093976"/>
            <a:ext cx="2624327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050" b="0">
                <a:solidFill>
                  <a:srgbClr val="E0E0E4"/>
                </a:solidFill>
                <a:latin typeface="Arial"/>
              </a:rPr>
              <a:t>Compararea numărului de cazuri și identificarea zonelor cu o concentrare mai mare.</a:t>
            </a:r>
          </a:p>
        </p:txBody>
      </p:sp>
      <p:sp>
        <p:nvSpPr>
          <p:cNvPr id="12" name="Oval 11"/>
          <p:cNvSpPr/>
          <p:nvPr/>
        </p:nvSpPr>
        <p:spPr>
          <a:xfrm>
            <a:off x="8668512" y="2724912"/>
            <a:ext cx="283464" cy="283464"/>
          </a:xfrm>
          <a:prstGeom prst="ellipse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F1F26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61704" y="2706624"/>
            <a:ext cx="2624327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Distribuția cazurilor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1704" y="2953512"/>
            <a:ext cx="2624327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050" b="0">
                <a:solidFill>
                  <a:srgbClr val="E0E0E4"/>
                </a:solidFill>
                <a:latin typeface="Arial"/>
              </a:rPr>
              <a:t>Vizualizare comparativă a cazurilor și a caracteristicilor relevante ale instalației.</a:t>
            </a:r>
          </a:p>
        </p:txBody>
      </p:sp>
      <p:sp>
        <p:nvSpPr>
          <p:cNvPr id="15" name="Oval 14"/>
          <p:cNvSpPr/>
          <p:nvPr/>
        </p:nvSpPr>
        <p:spPr>
          <a:xfrm>
            <a:off x="8668512" y="3584448"/>
            <a:ext cx="283464" cy="283464"/>
          </a:xfrm>
          <a:prstGeom prst="ellipse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F1F26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1704" y="3566160"/>
            <a:ext cx="2624327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Hartă interactivă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1704" y="3813048"/>
            <a:ext cx="2624327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050" b="0">
                <a:solidFill>
                  <a:srgbClr val="E0E0E4"/>
                </a:solidFill>
                <a:latin typeface="Arial"/>
              </a:rPr>
              <a:t>Treemap de prioritizare</a:t>
            </a:r>
          </a:p>
        </p:txBody>
      </p:sp>
      <p:sp>
        <p:nvSpPr>
          <p:cNvPr id="18" name="Oval 17"/>
          <p:cNvSpPr/>
          <p:nvPr/>
        </p:nvSpPr>
        <p:spPr>
          <a:xfrm>
            <a:off x="8668512" y="4443983"/>
            <a:ext cx="283464" cy="283464"/>
          </a:xfrm>
          <a:prstGeom prst="ellipse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1F26"/>
                </a:solidFill>
                <a:latin typeface="Arial"/>
              </a:rPr>
              <a:t>5</a:t>
            </a:r>
            <a:endParaRPr sz="1200" b="1" dirty="0">
              <a:solidFill>
                <a:srgbClr val="1F1F26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61704" y="4425696"/>
            <a:ext cx="2624327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Listă detaliată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1704" y="4672583"/>
            <a:ext cx="2624327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050" b="0">
                <a:solidFill>
                  <a:srgbClr val="E0E0E4"/>
                </a:solidFill>
                <a:latin typeface="Arial"/>
              </a:rPr>
              <a:t>NLC, partener, județ, localitate, tip client, probabilitate și complexitate.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5413248"/>
            <a:ext cx="3017520" cy="640080"/>
          </a:xfrm>
          <a:prstGeom prst="roundRect">
            <a:avLst/>
          </a:prstGeom>
          <a:solidFill>
            <a:srgbClr val="FFE600"/>
          </a:solidFill>
          <a:ln w="1016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0" y="5559552"/>
            <a:ext cx="274320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/>
            <a:r>
              <a:rPr sz="1250" b="1">
                <a:solidFill>
                  <a:srgbClr val="1F1F26"/>
                </a:solidFill>
                <a:latin typeface="Arial"/>
              </a:rPr>
              <a:t>Dublu click pe bulină → Dashboard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6437376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>
                <a:solidFill>
                  <a:srgbClr val="A6A6B0"/>
                </a:solidFill>
                <a:latin typeface="Arial"/>
              </a:rPr>
              <a:t>Dublu click pe caz → Dashboard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73352" y="6437376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 b="0">
                <a:solidFill>
                  <a:srgbClr val="A6A6B0"/>
                </a:solidFill>
                <a:latin typeface="Arial"/>
              </a:rPr>
              <a:t>SAS Visual Analytics | Monitorizare intervenții neautorizate și contoare defecte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6437376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 b="0">
                <a:solidFill>
                  <a:srgbClr val="A6A6B0"/>
                </a:solidFill>
                <a:latin typeface="Arial"/>
              </a:rPr>
              <a:t>3</a:t>
            </a:r>
          </a:p>
        </p:txBody>
      </p:sp>
      <p:pic>
        <p:nvPicPr>
          <p:cNvPr id="26" name="Picture 25" descr="image(20261005-04212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7845552" cy="39227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01168"/>
            <a:ext cx="10972800" cy="530352"/>
          </a:xfrm>
        </p:spPr>
        <p:txBody>
          <a:bodyPr wrap="square" lIns="0" tIns="0" rIns="0" bIns="0" anchor="ctr"/>
          <a:lstStyle/>
          <a:p>
            <a:pPr algn="l"/>
            <a:r>
              <a:rPr sz="2300" b="1">
                <a:solidFill>
                  <a:srgbClr val="FFE600"/>
                </a:solidFill>
                <a:latin typeface="Arial"/>
              </a:rPr>
              <a:t>Navigarea de la analiza regională la locul de consum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500" b="0">
                <a:solidFill>
                  <a:srgbClr val="E0E0E4"/>
                </a:solidFill>
                <a:latin typeface="Arial"/>
              </a:rPr>
              <a:t>Selecția realizată în Treemap transferă contextul către raportul de detaliu, astfel încât toate secțiunile să fie analizate pentru același client.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4160520" cy="3246120"/>
          </a:xfrm>
          <a:prstGeom prst="rect">
            <a:avLst/>
          </a:prstGeom>
          <a:solidFill>
            <a:srgbClr val="343441"/>
          </a:solidFill>
          <a:ln w="10160">
            <a:solidFill>
              <a:srgbClr val="343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58368" y="1737360"/>
            <a:ext cx="347472" cy="347472"/>
          </a:xfrm>
          <a:prstGeom prst="ellipse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F1F26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965192"/>
            <a:ext cx="3886200" cy="4023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Selectezi cazul relevant din hartă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00600" y="3154680"/>
            <a:ext cx="1618488" cy="0"/>
          </a:xfrm>
          <a:prstGeom prst="line">
            <a:avLst/>
          </a:prstGeom>
          <a:ln w="27940">
            <a:solidFill>
              <a:srgbClr val="FFE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992624" y="2331720"/>
            <a:ext cx="1298448" cy="1325880"/>
          </a:xfrm>
          <a:prstGeom prst="roundRect">
            <a:avLst/>
          </a:prstGeom>
          <a:solidFill>
            <a:srgbClr val="FFE600"/>
          </a:solidFill>
          <a:ln w="1016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0" y="2532888"/>
            <a:ext cx="1042415" cy="8412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/>
            <a:r>
              <a:rPr sz="1700" b="1">
                <a:solidFill>
                  <a:srgbClr val="1F1F26"/>
                </a:solidFill>
                <a:latin typeface="Arial"/>
              </a:rPr>
              <a:t>Dublu</a:t>
            </a:r>
            <a:br/>
            <a:r>
              <a:rPr sz="1700" b="1">
                <a:solidFill>
                  <a:srgbClr val="1F1F26"/>
                </a:solidFill>
                <a:latin typeface="Arial"/>
              </a:rPr>
              <a:t>click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65392" y="1572768"/>
            <a:ext cx="5120640" cy="3246120"/>
          </a:xfrm>
          <a:prstGeom prst="rect">
            <a:avLst/>
          </a:prstGeom>
          <a:solidFill>
            <a:srgbClr val="343441"/>
          </a:solidFill>
          <a:ln w="10160">
            <a:solidFill>
              <a:srgbClr val="343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dashboard2_detai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64208"/>
            <a:ext cx="4937760" cy="306324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6720840" y="1737360"/>
            <a:ext cx="347472" cy="347472"/>
          </a:xfrm>
          <a:prstGeom prst="ellipse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F1F26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965192"/>
            <a:ext cx="4800600" cy="4023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Raportul de detaliu se deschide filtrat pe NLC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513832"/>
            <a:ext cx="10972800" cy="566928"/>
          </a:xfrm>
          <a:prstGeom prst="rect">
            <a:avLst/>
          </a:prstGeom>
          <a:solidFill>
            <a:srgbClr val="1D1D27"/>
          </a:solidFill>
          <a:ln w="1016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614416"/>
            <a:ext cx="1051560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/>
            <a:r>
              <a:rPr sz="1350" b="0">
                <a:solidFill>
                  <a:srgbClr val="E0E0E4"/>
                </a:solidFill>
                <a:latin typeface="Arial"/>
              </a:rPr>
              <a:t>Context păstrat automat: consum, citiri, identitate, informații tehnice și verificări pentru același loc de consum.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6437376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t>05.10.2026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3352" y="6437376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 b="0">
                <a:solidFill>
                  <a:srgbClr val="A6A6B0"/>
                </a:solidFill>
                <a:latin typeface="Arial"/>
              </a:rPr>
              <a:t>SAS Visual Analytics | Monitorizare intervenții neautorizate și contoare defecte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6437376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 b="0">
                <a:solidFill>
                  <a:srgbClr val="A6A6B0"/>
                </a:solidFill>
                <a:latin typeface="Arial"/>
              </a:rPr>
              <a:t>4</a:t>
            </a:r>
          </a:p>
        </p:txBody>
      </p:sp>
      <p:pic>
        <p:nvPicPr>
          <p:cNvPr id="20" name="Picture 19" descr="treemap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64208"/>
            <a:ext cx="3977639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01168"/>
            <a:ext cx="10972800" cy="530352"/>
          </a:xfrm>
        </p:spPr>
        <p:txBody>
          <a:bodyPr wrap="square" lIns="0" tIns="0" rIns="0" bIns="0" anchor="ctr"/>
          <a:lstStyle/>
          <a:p>
            <a:pPr algn="l"/>
            <a:r>
              <a:rPr sz="2300" b="1">
                <a:solidFill>
                  <a:srgbClr val="FFE600"/>
                </a:solidFill>
                <a:latin typeface="Arial"/>
              </a:rPr>
              <a:t>Dashboard 2 | Detalii loc de consum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932688"/>
            <a:ext cx="8430768" cy="5230368"/>
          </a:xfrm>
          <a:prstGeom prst="rect">
            <a:avLst/>
          </a:prstGeom>
          <a:solidFill>
            <a:srgbClr val="343441"/>
          </a:solidFill>
          <a:ln w="10160">
            <a:solidFill>
              <a:srgbClr val="343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3d0e869-6f88-4429-9ff0-cc1e7fb888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8302752" cy="41513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340096"/>
            <a:ext cx="8028431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/>
            <a:r>
              <a:rPr sz="1300" b="0">
                <a:solidFill>
                  <a:srgbClr val="E0E0E4"/>
                </a:solidFill>
                <a:latin typeface="Arial"/>
              </a:rPr>
              <a:t>Toate obiectele sunt corelate și afișează informațiile aferente locului de consum selectat.</a:t>
            </a:r>
          </a:p>
        </p:txBody>
      </p:sp>
      <p:sp>
        <p:nvSpPr>
          <p:cNvPr id="6" name="Oval 5"/>
          <p:cNvSpPr/>
          <p:nvPr/>
        </p:nvSpPr>
        <p:spPr>
          <a:xfrm>
            <a:off x="9107424" y="1024128"/>
            <a:ext cx="283464" cy="283464"/>
          </a:xfrm>
          <a:prstGeom prst="ellipse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F1F26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0616" y="1005840"/>
            <a:ext cx="2185415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Căutare după NLC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0616" y="1252728"/>
            <a:ext cx="2185415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050" b="0">
                <a:solidFill>
                  <a:srgbClr val="E0E0E4"/>
                </a:solidFill>
                <a:latin typeface="Arial"/>
              </a:rPr>
              <a:t>Acces direct la un loc de consum cunoscut, fără parcurgerea Dashboard-ului 1.</a:t>
            </a:r>
          </a:p>
        </p:txBody>
      </p:sp>
      <p:sp>
        <p:nvSpPr>
          <p:cNvPr id="9" name="Oval 8"/>
          <p:cNvSpPr/>
          <p:nvPr/>
        </p:nvSpPr>
        <p:spPr>
          <a:xfrm>
            <a:off x="9107424" y="1892807"/>
            <a:ext cx="283464" cy="283464"/>
          </a:xfrm>
          <a:prstGeom prst="ellipse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F1F26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1874519"/>
            <a:ext cx="2185415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Consum și citiri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0616" y="2121408"/>
            <a:ext cx="2185415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050" b="0">
                <a:solidFill>
                  <a:srgbClr val="E0E0E4"/>
                </a:solidFill>
                <a:latin typeface="Arial"/>
              </a:rPr>
              <a:t>Evoluția consumului în timp și valorile detaliate ale citirilor.</a:t>
            </a:r>
          </a:p>
        </p:txBody>
      </p:sp>
      <p:sp>
        <p:nvSpPr>
          <p:cNvPr id="12" name="Oval 11"/>
          <p:cNvSpPr/>
          <p:nvPr/>
        </p:nvSpPr>
        <p:spPr>
          <a:xfrm>
            <a:off x="9107424" y="2761488"/>
            <a:ext cx="283464" cy="283464"/>
          </a:xfrm>
          <a:prstGeom prst="ellipse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F1F26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0616" y="2743200"/>
            <a:ext cx="2185415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Identitate &amp; 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616" y="2990088"/>
            <a:ext cx="2185415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050" b="0">
                <a:solidFill>
                  <a:srgbClr val="E0E0E4"/>
                </a:solidFill>
                <a:latin typeface="Arial"/>
              </a:rPr>
              <a:t>Partener, contract, categorie tarifară, localizare și segment de activitate.</a:t>
            </a:r>
          </a:p>
        </p:txBody>
      </p:sp>
      <p:sp>
        <p:nvSpPr>
          <p:cNvPr id="15" name="Oval 14"/>
          <p:cNvSpPr/>
          <p:nvPr/>
        </p:nvSpPr>
        <p:spPr>
          <a:xfrm>
            <a:off x="9107424" y="3630168"/>
            <a:ext cx="283464" cy="283464"/>
          </a:xfrm>
          <a:prstGeom prst="ellipse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F1F26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0616" y="3611880"/>
            <a:ext cx="2185415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Detalii tehnice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616" y="3858768"/>
            <a:ext cx="2185415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050" b="0">
                <a:solidFill>
                  <a:srgbClr val="E0E0E4"/>
                </a:solidFill>
                <a:latin typeface="Arial"/>
              </a:rPr>
              <a:t>Instalație, divizie, rețea, adresă, coordonate și caracteristici de conectare.</a:t>
            </a:r>
          </a:p>
        </p:txBody>
      </p:sp>
      <p:sp>
        <p:nvSpPr>
          <p:cNvPr id="18" name="Oval 17"/>
          <p:cNvSpPr/>
          <p:nvPr/>
        </p:nvSpPr>
        <p:spPr>
          <a:xfrm>
            <a:off x="9107424" y="4498848"/>
            <a:ext cx="283464" cy="283464"/>
          </a:xfrm>
          <a:prstGeom prst="ellipse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F1F26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0616" y="4480560"/>
            <a:ext cx="2185415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Rezultate verificare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0616" y="4727448"/>
            <a:ext cx="2185415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050" b="0">
                <a:solidFill>
                  <a:srgbClr val="E0E0E4"/>
                </a:solidFill>
                <a:latin typeface="Arial"/>
              </a:rPr>
              <a:t>Informații despre control, documente, contor și cantitatea identificată.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5422392"/>
            <a:ext cx="2578608" cy="640080"/>
          </a:xfrm>
          <a:prstGeom prst="roundRect">
            <a:avLst/>
          </a:prstGeom>
          <a:solidFill>
            <a:srgbClr val="FFE600"/>
          </a:solidFill>
          <a:ln w="1016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17152" y="5541264"/>
            <a:ext cx="2340864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/>
            <a:r>
              <a:rPr sz="1150" b="1">
                <a:solidFill>
                  <a:srgbClr val="1F1F26"/>
                </a:solidFill>
                <a:latin typeface="Arial"/>
              </a:rPr>
              <a:t>Vedere consolidată asupra clientului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6437376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t>05.10.2026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73352" y="6437376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 b="0">
                <a:solidFill>
                  <a:srgbClr val="A6A6B0"/>
                </a:solidFill>
                <a:latin typeface="Arial"/>
              </a:rPr>
              <a:t>SAS Visual Analytics | Monitorizare intervenții neautorizate și contoare defecte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6437376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 b="0">
                <a:solidFill>
                  <a:srgbClr val="A6A6B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01168"/>
            <a:ext cx="10972800" cy="530352"/>
          </a:xfrm>
        </p:spPr>
        <p:txBody>
          <a:bodyPr wrap="square" lIns="0" tIns="0" rIns="0" bIns="0" anchor="ctr"/>
          <a:lstStyle/>
          <a:p>
            <a:pPr algn="l"/>
            <a:r>
              <a:rPr sz="2300" b="1">
                <a:solidFill>
                  <a:srgbClr val="FFE600"/>
                </a:solidFill>
                <a:latin typeface="Arial"/>
              </a:rPr>
              <a:t>Capabilități disponibile utilizatorului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0972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500" b="0">
                <a:solidFill>
                  <a:srgbClr val="E0E0E4"/>
                </a:solidFill>
                <a:latin typeface="Arial"/>
              </a:rPr>
              <a:t>Rapoartele susțin atât analiza exploratorie, cât și investigarea operațională a cazurilor.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81328"/>
            <a:ext cx="5440680" cy="4343400"/>
          </a:xfrm>
          <a:prstGeom prst="roundRect">
            <a:avLst/>
          </a:prstGeom>
          <a:solidFill>
            <a:srgbClr val="2A2A36"/>
          </a:solidFill>
          <a:ln w="1016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09928"/>
            <a:ext cx="4892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800" b="1">
                <a:solidFill>
                  <a:srgbClr val="FFE600"/>
                </a:solidFill>
                <a:latin typeface="Arial"/>
              </a:rPr>
              <a:t>În interfața SAS Visual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4800600" cy="3246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  <a:defRPr sz="1400" b="0">
                <a:solidFill>
                  <a:srgbClr val="E0E0E4"/>
                </a:solidFill>
                <a:latin typeface="Arial"/>
              </a:defRPr>
            </a:pPr>
            <a:r>
              <a:t>• Filtrare combinată și actualizarea automată a tuturor vizualizărilor
• Analiză regională și prioritizare vizuală a cazurilor prin Treemap
• Navigare între rapoarte cu păstrarea contextului clientului
• Evoluție temporală a consumului și acces la citiri detaliate
• Consolidarea datelor de business, tehnice și de inspecție
• Exportul rapoartelor sau al datelor, în funcție de drepturile disponibile</a:t>
            </a:r>
          </a:p>
          <a:p>
            <a:pPr>
              <a:lnSpc>
                <a:spcPct val="100000"/>
              </a:lnSpc>
              <a:spcAft>
                <a:spcPts val="900"/>
              </a:spcAft>
              <a:defRPr sz="1400" b="0">
                <a:solidFill>
                  <a:srgbClr val="E0E0E4"/>
                </a:solidFill>
                <a:latin typeface="Arial"/>
              </a:defRPr>
            </a:pPr>
            <a:endParaRPr/>
          </a:p>
          <a:p>
            <a:pPr>
              <a:lnSpc>
                <a:spcPct val="100000"/>
              </a:lnSpc>
              <a:spcAft>
                <a:spcPts val="900"/>
              </a:spcAft>
              <a:defRPr sz="1400" b="0">
                <a:solidFill>
                  <a:srgbClr val="E0E0E4"/>
                </a:solidFill>
                <a:latin typeface="Arial"/>
              </a:defRPr>
            </a:pPr>
            <a:endParaRPr/>
          </a:p>
          <a:p>
            <a:pPr>
              <a:lnSpc>
                <a:spcPct val="100000"/>
              </a:lnSpc>
              <a:spcAft>
                <a:spcPts val="900"/>
              </a:spcAft>
              <a:defRPr sz="1400" b="0">
                <a:solidFill>
                  <a:srgbClr val="E0E0E4"/>
                </a:solidFill>
                <a:latin typeface="Arial"/>
              </a:defRPr>
            </a:pPr>
            <a:endParaRPr/>
          </a:p>
          <a:p>
            <a:pPr>
              <a:lnSpc>
                <a:spcPct val="100000"/>
              </a:lnSpc>
              <a:spcAft>
                <a:spcPts val="900"/>
              </a:spcAft>
              <a:defRPr sz="1400" b="0">
                <a:solidFill>
                  <a:srgbClr val="E0E0E4"/>
                </a:solidFill>
                <a:latin typeface="Arial"/>
              </a:defRPr>
            </a:pPr>
            <a:endParaRPr/>
          </a:p>
          <a:p>
            <a:pPr>
              <a:lnSpc>
                <a:spcPct val="100000"/>
              </a:lnSpc>
              <a:spcAft>
                <a:spcPts val="900"/>
              </a:spcAft>
              <a:defRPr sz="1400" b="0">
                <a:solidFill>
                  <a:srgbClr val="E0E0E4"/>
                </a:solidFill>
                <a:latin typeface="Arial"/>
              </a:defRPr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36208" y="1481328"/>
            <a:ext cx="5440680" cy="4343400"/>
          </a:xfrm>
          <a:prstGeom prst="roundRect">
            <a:avLst/>
          </a:prstGeom>
          <a:solidFill>
            <a:srgbClr val="2A2A36"/>
          </a:solidFill>
          <a:ln w="1016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0528" y="1709928"/>
            <a:ext cx="4892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800" b="1">
                <a:solidFill>
                  <a:srgbClr val="FFE600"/>
                </a:solidFill>
                <a:latin typeface="Arial"/>
              </a:rPr>
              <a:t>Parcursul demonstrației în aplicație</a:t>
            </a:r>
          </a:p>
        </p:txBody>
      </p:sp>
      <p:sp>
        <p:nvSpPr>
          <p:cNvPr id="9" name="Oval 8"/>
          <p:cNvSpPr/>
          <p:nvPr/>
        </p:nvSpPr>
        <p:spPr>
          <a:xfrm>
            <a:off x="6537960" y="2267712"/>
            <a:ext cx="310896" cy="310896"/>
          </a:xfrm>
          <a:prstGeom prst="ellipse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F1F26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258568"/>
            <a:ext cx="4315968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1350" b="0">
                <a:solidFill>
                  <a:srgbClr val="E0E0E4"/>
                </a:solidFill>
                <a:latin typeface="Arial"/>
              </a:rPr>
              <a:t>Aplic filtrele relevante pentru segmentul analizat.</a:t>
            </a:r>
          </a:p>
        </p:txBody>
      </p:sp>
      <p:sp>
        <p:nvSpPr>
          <p:cNvPr id="11" name="Oval 10"/>
          <p:cNvSpPr/>
          <p:nvPr/>
        </p:nvSpPr>
        <p:spPr>
          <a:xfrm>
            <a:off x="6537960" y="2880360"/>
            <a:ext cx="310896" cy="310896"/>
          </a:xfrm>
          <a:prstGeom prst="ellipse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F1F26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871216"/>
            <a:ext cx="4315968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1350" b="0">
                <a:solidFill>
                  <a:srgbClr val="E0E0E4"/>
                </a:solidFill>
                <a:latin typeface="Arial"/>
              </a:rPr>
              <a:t>Compar distribuția cazurilor și zonele de interes.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3493008"/>
            <a:ext cx="310896" cy="310896"/>
          </a:xfrm>
          <a:prstGeom prst="ellipse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F1F26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3483864"/>
            <a:ext cx="4315968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1350" b="0">
                <a:solidFill>
                  <a:srgbClr val="E0E0E4"/>
                </a:solidFill>
                <a:latin typeface="Arial"/>
              </a:rPr>
              <a:t>Selectez un caz din Treemap și deschid locul de consum.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4105656"/>
            <a:ext cx="310896" cy="310896"/>
          </a:xfrm>
          <a:prstGeom prst="ellipse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F1F26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096512"/>
            <a:ext cx="4315968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1350" b="0">
                <a:solidFill>
                  <a:srgbClr val="E0E0E4"/>
                </a:solidFill>
                <a:latin typeface="Arial"/>
              </a:rPr>
              <a:t>Analizez consumul, identitatea și datele tehnice.</a:t>
            </a:r>
          </a:p>
        </p:txBody>
      </p:sp>
      <p:sp>
        <p:nvSpPr>
          <p:cNvPr id="17" name="Oval 16"/>
          <p:cNvSpPr/>
          <p:nvPr/>
        </p:nvSpPr>
        <p:spPr>
          <a:xfrm>
            <a:off x="6537960" y="4718304"/>
            <a:ext cx="310896" cy="310896"/>
          </a:xfrm>
          <a:prstGeom prst="ellipse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F1F26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709160"/>
            <a:ext cx="4315968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1350" b="0">
                <a:solidFill>
                  <a:srgbClr val="E0E0E4"/>
                </a:solidFill>
                <a:latin typeface="Arial"/>
              </a:rPr>
              <a:t>Verific informațiile disponibile despre inspecții.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016752"/>
            <a:ext cx="11173968" cy="310896"/>
          </a:xfrm>
          <a:prstGeom prst="rect">
            <a:avLst/>
          </a:prstGeom>
          <a:solidFill>
            <a:srgbClr val="FFE600"/>
          </a:solidFill>
          <a:ln w="1016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980176"/>
            <a:ext cx="10808208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/>
            <a:r>
              <a:rPr sz="1300" b="1">
                <a:solidFill>
                  <a:srgbClr val="1F1F26"/>
                </a:solidFill>
                <a:latin typeface="Arial"/>
              </a:rPr>
              <a:t>Flux complet: prioritizare regională → selectare caz → analiză detaliată a locului de consum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6437376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t>05.10.2026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3352" y="6437376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 b="0">
                <a:solidFill>
                  <a:srgbClr val="A6A6B0"/>
                </a:solidFill>
                <a:latin typeface="Arial"/>
              </a:rPr>
              <a:t>SAS Visual Analytics | Monitorizare intervenții neautorizate și contoare defecte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6437376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 b="0">
                <a:solidFill>
                  <a:srgbClr val="A6A6B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Media Placeholder 2"/>
          <p:cNvSpPr>
            <a:spLocks noGrp="1"/>
          </p:cNvSpPr>
          <p:nvPr>
            <p:ph type="media" sz="quarter" idx="13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E600"/>
                </a:solidFill>
              </a:defRPr>
            </a:pPr>
            <a:r>
              <a:t>Actualizarea datelor pentru rapoarte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74980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C3C5CC"/>
                </a:solidFill>
              </a:defRPr>
            </a:pPr>
            <a:r>
              <a:t>Fluxul tehnic asigura alimentarea automata a rapoartelor SAS Visual Analytics din PostgreSQL, prin joburi SAS Data Integration.</a:t>
            </a:r>
          </a:p>
        </p:txBody>
      </p:sp>
      <p:pic>
        <p:nvPicPr>
          <p:cNvPr id="8" name="Picture 7" descr="image1_flow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78992"/>
            <a:ext cx="11000232" cy="494151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078992"/>
            <a:ext cx="11000232" cy="4941510"/>
          </a:xfrm>
          <a:prstGeom prst="rect">
            <a:avLst/>
          </a:prstGeom>
          <a:noFill/>
          <a:ln w="7620">
            <a:solidFill>
              <a:srgbClr val="64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368" y="6071616"/>
            <a:ext cx="292608" cy="29260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6121907"/>
            <a:ext cx="2926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5151E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60441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5F5F5"/>
                </a:solidFill>
              </a:defRPr>
            </a:pPr>
            <a:r>
              <a:t>Procedurile PostgreSQL pregatesc datele sursa</a:t>
            </a:r>
          </a:p>
        </p:txBody>
      </p:sp>
      <p:sp>
        <p:nvSpPr>
          <p:cNvPr id="13" name="Oval 12"/>
          <p:cNvSpPr/>
          <p:nvPr/>
        </p:nvSpPr>
        <p:spPr>
          <a:xfrm>
            <a:off x="4206240" y="6071616"/>
            <a:ext cx="292608" cy="29260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40" y="6121907"/>
            <a:ext cx="2926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5151E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6044184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5F5F5"/>
                </a:solidFill>
              </a:defRPr>
            </a:pPr>
            <a:r>
              <a:t>SAS DI transfera si valideaza datele</a:t>
            </a:r>
          </a:p>
        </p:txBody>
      </p:sp>
      <p:sp>
        <p:nvSpPr>
          <p:cNvPr id="16" name="Oval 15"/>
          <p:cNvSpPr/>
          <p:nvPr/>
        </p:nvSpPr>
        <p:spPr>
          <a:xfrm>
            <a:off x="8001000" y="6071616"/>
            <a:ext cx="292608" cy="29260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01000" y="6121907"/>
            <a:ext cx="2926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5151E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6044184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5F5F5"/>
                </a:solidFill>
              </a:defRPr>
            </a:pPr>
            <a:r>
              <a:t>Tabelele sunt incarcate in memorie pentru 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65392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C3C5CC"/>
                </a:solidFill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6565392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05.10.2026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6565392"/>
            <a:ext cx="3200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>
                <a:solidFill>
                  <a:srgbClr val="C3C5CC"/>
                </a:solidFill>
              </a:defRPr>
            </a:pPr>
            <a:r>
              <a:t>SAS Visual Analytics | Monitorizare interventii neautorizate si contoare defecte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272784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F5F5F5"/>
                </a:solidFill>
              </a:defRPr>
            </a:pPr>
            <a:r>
              <a:t>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Media Placeholder 2"/>
          <p:cNvSpPr>
            <a:spLocks noGrp="1"/>
          </p:cNvSpPr>
          <p:nvPr>
            <p:ph type="media" sz="quarter" idx="13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E600"/>
                </a:solidFill>
              </a:defRPr>
            </a:pPr>
            <a:r>
              <a:t>Control operational si siguranta incarcarii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74980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C3C5CC"/>
                </a:solidFill>
              </a:defRPr>
            </a:pPr>
            <a:r>
              <a:t>Documentatia tehnica explica modul in care actualizarea datelor este planificata, verificata si protejata la erori.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3429000" cy="1920240"/>
          </a:xfrm>
          <a:prstGeom prst="roundRect">
            <a:avLst/>
          </a:prstGeom>
          <a:solidFill>
            <a:srgbClr val="2B2B37"/>
          </a:solidFill>
          <a:ln w="9525">
            <a:solidFill>
              <a:srgbClr val="1E1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307592"/>
            <a:ext cx="309981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FE600"/>
                </a:solidFill>
              </a:defRPr>
            </a:pPr>
            <a:r>
              <a:t>Programare lunara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737360"/>
            <a:ext cx="3026664" cy="8797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890">
                <a:solidFill>
                  <a:srgbClr val="F5F5F5"/>
                </a:solidFill>
              </a:defRPr>
            </a:pPr>
            <a:r>
              <a:rPr dirty="0" err="1"/>
              <a:t>Fluxul</a:t>
            </a:r>
            <a:r>
              <a:rPr dirty="0"/>
              <a:t> PostgreSQL -&gt; SAS </a:t>
            </a:r>
            <a:r>
              <a:rPr dirty="0" err="1"/>
              <a:t>ruleaza</a:t>
            </a:r>
            <a:r>
              <a:rPr dirty="0"/>
              <a:t> in data de</a:t>
            </a:r>
            <a:r>
              <a:rPr lang="en-US" dirty="0"/>
              <a:t> 4</a:t>
            </a:r>
            <a:r>
              <a:rPr dirty="0"/>
              <a:t> a </a:t>
            </a:r>
            <a:r>
              <a:rPr dirty="0" err="1"/>
              <a:t>fiecarei</a:t>
            </a:r>
            <a:r>
              <a:rPr dirty="0"/>
              <a:t> </a:t>
            </a:r>
            <a:r>
              <a:rPr dirty="0" err="1"/>
              <a:t>luni</a:t>
            </a:r>
            <a:r>
              <a:rPr dirty="0"/>
              <a:t>,</a:t>
            </a:r>
            <a:r>
              <a:rPr lang="en-US" dirty="0"/>
              <a:t>.</a:t>
            </a:r>
          </a:p>
          <a:p>
            <a:pPr>
              <a:spcAft>
                <a:spcPts val="400"/>
              </a:spcAft>
              <a:defRPr sz="890">
                <a:solidFill>
                  <a:srgbClr val="F5F5F5"/>
                </a:solidFill>
              </a:defRPr>
            </a:pPr>
            <a:r>
              <a:rPr dirty="0" err="1"/>
              <a:t>Incarcarea</a:t>
            </a:r>
            <a:r>
              <a:rPr dirty="0"/>
              <a:t> </a:t>
            </a:r>
            <a:r>
              <a:rPr dirty="0" err="1"/>
              <a:t>tabelelor</a:t>
            </a:r>
            <a:r>
              <a:rPr dirty="0"/>
              <a:t> in </a:t>
            </a:r>
            <a:r>
              <a:rPr dirty="0" err="1"/>
              <a:t>memorie</a:t>
            </a:r>
            <a:r>
              <a:rPr dirty="0"/>
              <a:t> </a:t>
            </a:r>
            <a:r>
              <a:rPr dirty="0" err="1"/>
              <a:t>pentru</a:t>
            </a:r>
            <a:r>
              <a:rPr dirty="0"/>
              <a:t> </a:t>
            </a:r>
            <a:r>
              <a:rPr dirty="0" err="1"/>
              <a:t>rapoarte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programata</a:t>
            </a:r>
            <a:r>
              <a:rPr dirty="0"/>
              <a:t> in aceeasi zi</a:t>
            </a:r>
            <a:r>
              <a:rPr lang="en-US" dirty="0"/>
              <a:t>.</a:t>
            </a:r>
          </a:p>
          <a:p>
            <a:pPr>
              <a:spcAft>
                <a:spcPts val="400"/>
              </a:spcAft>
              <a:defRPr sz="890">
                <a:solidFill>
                  <a:srgbClr val="F5F5F5"/>
                </a:solidFill>
              </a:defRPr>
            </a:pPr>
            <a:r>
              <a:rPr dirty="0"/>
              <a:t>In </a:t>
            </a:r>
            <a:r>
              <a:rPr dirty="0" err="1"/>
              <a:t>modul</a:t>
            </a:r>
            <a:r>
              <a:rPr dirty="0"/>
              <a:t> </a:t>
            </a:r>
            <a:r>
              <a:rPr dirty="0" err="1"/>
              <a:t>asincron</a:t>
            </a:r>
            <a:r>
              <a:rPr dirty="0"/>
              <a:t>, </a:t>
            </a:r>
            <a:r>
              <a:rPr dirty="0" err="1"/>
              <a:t>procedurile</a:t>
            </a:r>
            <a:r>
              <a:rPr dirty="0"/>
              <a:t> sunt </a:t>
            </a:r>
            <a:r>
              <a:rPr dirty="0" err="1"/>
              <a:t>lansate</a:t>
            </a:r>
            <a:r>
              <a:rPr dirty="0"/>
              <a:t> </a:t>
            </a:r>
            <a:r>
              <a:rPr dirty="0" err="1"/>
              <a:t>etapizat</a:t>
            </a:r>
            <a:r>
              <a:rPr dirty="0"/>
              <a:t>: 02:00, 04:00, 07:00, 09:00 </a:t>
            </a:r>
            <a:r>
              <a:rPr dirty="0" err="1"/>
              <a:t>si</a:t>
            </a:r>
            <a:r>
              <a:rPr dirty="0"/>
              <a:t> 09:30.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429000" cy="1920240"/>
          </a:xfrm>
          <a:prstGeom prst="roundRect">
            <a:avLst/>
          </a:prstGeom>
          <a:solidFill>
            <a:srgbClr val="2B2B37"/>
          </a:solidFill>
          <a:ln w="9525">
            <a:solidFill>
              <a:srgbClr val="1E1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307592"/>
            <a:ext cx="309981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FE600"/>
                </a:solidFill>
              </a:defRPr>
            </a:pPr>
            <a:r>
              <a:t>Controlul actualitatii datelor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737360"/>
            <a:ext cx="3026664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F5F5F5"/>
                </a:solidFill>
              </a:defRPr>
            </a:pPr>
            <a:r>
              <a:t>loading_dttm marcheaza momentul ultimei incarcari sau actualizari.</a:t>
            </a:r>
          </a:p>
          <a:p>
            <a:pPr>
              <a:spcAft>
                <a:spcPts val="400"/>
              </a:spcAft>
              <a:defRPr sz="919">
                <a:solidFill>
                  <a:srgbClr val="F5F5F5"/>
                </a:solidFill>
              </a:defRPr>
            </a:pPr>
            <a:r>
              <a:t>execution_traces pastreaza starea executiei, durata si identificatorul rularii.</a:t>
            </a:r>
          </a:p>
          <a:p>
            <a:pPr>
              <a:spcAft>
                <a:spcPts val="400"/>
              </a:spcAft>
              <a:defRPr sz="919">
                <a:solidFill>
                  <a:srgbClr val="F5F5F5"/>
                </a:solidFill>
              </a:defRPr>
            </a:pPr>
            <a:r>
              <a:t>SAS transfera datele doar daca executia este valida si datele sunt actuale.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143000"/>
            <a:ext cx="3429000" cy="1920240"/>
          </a:xfrm>
          <a:prstGeom prst="roundRect">
            <a:avLst/>
          </a:prstGeom>
          <a:solidFill>
            <a:srgbClr val="2B2B37"/>
          </a:solidFill>
          <a:ln w="9525">
            <a:solidFill>
              <a:srgbClr val="1E1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1" y="1307592"/>
            <a:ext cx="309981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FE600"/>
                </a:solidFill>
              </a:defRPr>
            </a:pPr>
            <a:r>
              <a:t>Protectie la erori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737360"/>
            <a:ext cx="3026664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F5F5F5"/>
                </a:solidFill>
              </a:defRPr>
            </a:pPr>
            <a:r>
              <a:t>Daca procedurile PostgreSQL esueaza, fluxul de transfer nu continua.</a:t>
            </a:r>
          </a:p>
          <a:p>
            <a:pPr>
              <a:spcAft>
                <a:spcPts val="400"/>
              </a:spcAft>
              <a:defRPr sz="919">
                <a:solidFill>
                  <a:srgbClr val="F5F5F5"/>
                </a:solidFill>
              </a:defRPr>
            </a:pPr>
            <a:r>
              <a:t>Tabelele SAS nu sunt suprascrise cu date incomplete.</a:t>
            </a:r>
          </a:p>
          <a:p>
            <a:pPr>
              <a:spcAft>
                <a:spcPts val="400"/>
              </a:spcAft>
              <a:defRPr sz="919">
                <a:solidFill>
                  <a:srgbClr val="F5F5F5"/>
                </a:solidFill>
              </a:defRPr>
            </a:pPr>
            <a:r>
              <a:t>Rapoartele raman disponibile cu ultima incarcare finalizata cu succes.</a:t>
            </a:r>
          </a:p>
        </p:txBody>
      </p:sp>
      <p:pic>
        <p:nvPicPr>
          <p:cNvPr id="17" name="Picture 1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474720"/>
            <a:ext cx="5029200" cy="260900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85800" y="3474720"/>
            <a:ext cx="5029200" cy="2606040"/>
          </a:xfrm>
          <a:prstGeom prst="rect">
            <a:avLst/>
          </a:prstGeom>
          <a:noFill/>
          <a:ln w="6350">
            <a:solidFill>
              <a:srgbClr val="64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60807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">
                <a:solidFill>
                  <a:srgbClr val="C3C5CC"/>
                </a:solidFill>
              </a:defRPr>
            </a:pPr>
            <a:r>
              <a:t>NTL_PSQL: declansare flux la 01:00</a:t>
            </a:r>
          </a:p>
        </p:txBody>
      </p:sp>
      <p:pic>
        <p:nvPicPr>
          <p:cNvPr id="20" name="Picture 19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474720"/>
            <a:ext cx="5029200" cy="255741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263640" y="3474720"/>
            <a:ext cx="5029200" cy="2606040"/>
          </a:xfrm>
          <a:prstGeom prst="rect">
            <a:avLst/>
          </a:prstGeom>
          <a:noFill/>
          <a:ln w="6350">
            <a:solidFill>
              <a:srgbClr val="64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60807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">
                <a:solidFill>
                  <a:srgbClr val="C3C5CC"/>
                </a:solidFill>
              </a:defRPr>
            </a:pPr>
            <a:r>
              <a:t>NTL_SAS: incarcare date in memorie la 11:00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382512"/>
            <a:ext cx="10698480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6565392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C3C5CC"/>
                </a:solidFill>
              </a:defRPr>
            </a:pPr>
            <a: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6565392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05.10.2026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6565392"/>
            <a:ext cx="3200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>
                <a:solidFill>
                  <a:srgbClr val="C3C5CC"/>
                </a:solidFill>
              </a:defRPr>
            </a:pPr>
            <a:r>
              <a:t>SAS Visual Analytics | Monitorizare interventii neautorizate si contoare defecte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272784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F5F5F5"/>
                </a:solidFill>
              </a:defRPr>
            </a:pPr>
            <a:r>
              <a:t>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rge Text [SPECTRUM]">
  <a:themeElements>
    <a:clrScheme name="Custom 81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2024_Template_Dark_v2.potx" id="{C809F8AB-991E-460A-A122-03ADFA52C0BF}" vid="{1F4D8B0A-0010-4018-9061-7C4E16553D12}"/>
    </a:ext>
  </a:extLst>
</a:theme>
</file>

<file path=ppt/theme/theme2.xml><?xml version="1.0" encoding="utf-8"?>
<a:theme xmlns:a="http://schemas.openxmlformats.org/drawingml/2006/main" name="Large Text [DARK]">
  <a:themeElements>
    <a:clrScheme name="Custom 82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2024_Template_Dark_v2.potx" id="{C809F8AB-991E-460A-A122-03ADFA52C0BF}" vid="{5AE1B79B-B4AF-4FAA-9B0B-D26AFF68AE6A}"/>
    </a:ext>
  </a:extLst>
</a:theme>
</file>

<file path=ppt/theme/theme3.xml><?xml version="1.0" encoding="utf-8"?>
<a:theme xmlns:a="http://schemas.openxmlformats.org/drawingml/2006/main" name="Small Text [DARK]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2024_Template_Dark_v2.potx" id="{C809F8AB-991E-460A-A122-03ADFA52C0BF}" vid="{7D2E3E8A-B877-4170-9DD5-5B5C5C0C0BAE}"/>
    </a:ext>
  </a:extLst>
</a:theme>
</file>

<file path=ppt/theme/theme4.xml><?xml version="1.0" encoding="utf-8"?>
<a:theme xmlns:a="http://schemas.openxmlformats.org/drawingml/2006/main" name="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2024_Template_Dark_v2.potx" id="{C809F8AB-991E-460A-A122-03ADFA52C0BF}" vid="{4A63C152-927B-4484-91FE-BD46D62167FF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24D6B7C3717C47AB301E11BF9B4951" ma:contentTypeVersion="4" ma:contentTypeDescription="Create a new document." ma:contentTypeScope="" ma:versionID="6a2ac9e823fe16b7fbf39f49d883e91a">
  <xsd:schema xmlns:xsd="http://www.w3.org/2001/XMLSchema" xmlns:xs="http://www.w3.org/2001/XMLSchema" xmlns:p="http://schemas.microsoft.com/office/2006/metadata/properties" xmlns:ns2="714879ae-1033-45c6-9be3-c577918c63c3" targetNamespace="http://schemas.microsoft.com/office/2006/metadata/properties" ma:root="true" ma:fieldsID="67b307d9afce70da7b4a92e414b6e779" ns2:_="">
    <xsd:import namespace="714879ae-1033-45c6-9be3-c577918c63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4879ae-1033-45c6-9be3-c577918c63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087F47-891A-4332-AEE8-A122FCE56C49}">
  <ds:schemaRefs>
    <ds:schemaRef ds:uri="http://purl.org/dc/elements/1.1/"/>
    <ds:schemaRef ds:uri="http://purl.org/dc/terms/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www.w3.org/XML/1998/namespace"/>
    <ds:schemaRef ds:uri="714879ae-1033-45c6-9be3-c577918c63c3"/>
    <ds:schemaRef ds:uri="http://schemas.openxmlformats.org/package/2006/metadata/core-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BF3EB86-FB13-4C5C-B0AA-1D887D1073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4879ae-1033-45c6-9be3-c577918c63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AC014D9-0F8B-4066-823B-E589F64FAF1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EN Dark-global-widescreen-presentation-template-v2.0</Template>
  <TotalTime>221</TotalTime>
  <Words>1026</Words>
  <Application>Microsoft Office PowerPoint</Application>
  <PresentationFormat>Widescreen</PresentationFormat>
  <Paragraphs>161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EYInterstate Light</vt:lpstr>
      <vt:lpstr>EYInterstate Regular</vt:lpstr>
      <vt:lpstr>Georgia Pro</vt:lpstr>
      <vt:lpstr>Segoe UI</vt:lpstr>
      <vt:lpstr>Wingdings</vt:lpstr>
      <vt:lpstr>Large Text [SPECTRUM]</vt:lpstr>
      <vt:lpstr>Large Text [DARK]</vt:lpstr>
      <vt:lpstr>Small Text [DARK]</vt:lpstr>
      <vt:lpstr>EY Core Slides</vt:lpstr>
      <vt:lpstr>SAS Visual Analytics</vt:lpstr>
      <vt:lpstr>Cum se utilizează soluția</vt:lpstr>
      <vt:lpstr>PowerPoint Presentation</vt:lpstr>
      <vt:lpstr>Dashboard 1 | Cazuri potențiale de fraudă – Vizualizare regională</vt:lpstr>
      <vt:lpstr>Navigarea de la analiza regională la locul de consum</vt:lpstr>
      <vt:lpstr>Dashboard 2 | Detalii loc de consum</vt:lpstr>
      <vt:lpstr>Capabilități disponibile utilizatorului</vt:lpstr>
      <vt:lpstr>PowerPoint Presentation</vt:lpstr>
      <vt:lpstr>PowerPoint Presentation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Bogdan Picerea</dc:creator>
  <cp:lastModifiedBy>Bogdan Mierloiu</cp:lastModifiedBy>
  <cp:revision>4</cp:revision>
  <dcterms:created xsi:type="dcterms:W3CDTF">2025-01-16T09:39:27Z</dcterms:created>
  <dcterms:modified xsi:type="dcterms:W3CDTF">2026-10-05T04:39:08Z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0x01010039AC5ADA8D426E4FBEDF652E9440888F</vt:lpwstr>
  </property>
</Properties>
</file>